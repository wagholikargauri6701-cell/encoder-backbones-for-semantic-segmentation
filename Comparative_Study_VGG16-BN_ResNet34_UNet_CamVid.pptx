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37" r:id="rId2"/>
    <p:sldId id="356" r:id="rId3"/>
    <p:sldId id="351" r:id="rId4"/>
    <p:sldId id="357" r:id="rId5"/>
    <p:sldId id="358" r:id="rId6"/>
    <p:sldId id="359" r:id="rId7"/>
    <p:sldId id="361" r:id="rId8"/>
    <p:sldId id="360" r:id="rId9"/>
    <p:sldId id="362" r:id="rId10"/>
    <p:sldId id="363" r:id="rId11"/>
    <p:sldId id="365" r:id="rId12"/>
    <p:sldId id="367" r:id="rId13"/>
    <p:sldId id="368" r:id="rId14"/>
    <p:sldId id="364" r:id="rId15"/>
    <p:sldId id="3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äsentation" id="{D4FCB3B3-2F76-4BB5-8E9E-FB1C246458FA}">
          <p14:sldIdLst>
            <p14:sldId id="337"/>
            <p14:sldId id="356"/>
            <p14:sldId id="351"/>
            <p14:sldId id="357"/>
            <p14:sldId id="358"/>
            <p14:sldId id="359"/>
            <p14:sldId id="361"/>
            <p14:sldId id="360"/>
            <p14:sldId id="362"/>
            <p14:sldId id="363"/>
            <p14:sldId id="365"/>
            <p14:sldId id="367"/>
            <p14:sldId id="368"/>
            <p14:sldId id="364"/>
            <p14:sldId id="369"/>
          </p14:sldIdLst>
        </p14:section>
        <p14:section name="Anhang" id="{4EDE7FD7-A736-42AD-9FCA-E9C2F811943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AFAFA"/>
    <a:srgbClr val="F3F1EF"/>
    <a:srgbClr val="45B1CB"/>
    <a:srgbClr val="2D899F"/>
    <a:srgbClr val="1F74AD"/>
    <a:srgbClr val="144D73"/>
    <a:srgbClr val="2C3E50"/>
    <a:srgbClr val="212E3C"/>
    <a:srgbClr val="1E5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29A89-AAD7-44E9-9B5F-A4ADA397035A}" v="1" dt="2026-07-05T12:34:04.515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46" autoAdjust="0"/>
    <p:restoredTop sz="96196" autoAdjust="0"/>
  </p:normalViewPr>
  <p:slideViewPr>
    <p:cSldViewPr snapToGrid="0" snapToObjects="1" showGuides="1">
      <p:cViewPr varScale="1">
        <p:scale>
          <a:sx n="127" d="100"/>
          <a:sy n="127" d="100"/>
        </p:scale>
        <p:origin x="354" y="114"/>
      </p:cViewPr>
      <p:guideLst/>
    </p:cSldViewPr>
  </p:slideViewPr>
  <p:outlineViewPr>
    <p:cViewPr>
      <p:scale>
        <a:sx n="33" d="100"/>
        <a:sy n="33" d="100"/>
      </p:scale>
      <p:origin x="0" y="-219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-16188"/>
    </p:cViewPr>
  </p:sorterViewPr>
  <p:notesViewPr>
    <p:cSldViewPr snapToGrid="0" snapToObjects="1" showGuides="1">
      <p:cViewPr varScale="1">
        <p:scale>
          <a:sx n="78" d="100"/>
          <a:sy n="78" d="100"/>
        </p:scale>
        <p:origin x="3108" y="84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i Wagholikar" userId="e70f0baa88ef6ad3" providerId="LiveId" clId="{58DA3D31-33A8-4E05-9B0D-E5BB241D3124}"/>
    <pc:docChg chg="custSel modSld sldOrd">
      <pc:chgData name="Gauri Wagholikar" userId="e70f0baa88ef6ad3" providerId="LiveId" clId="{58DA3D31-33A8-4E05-9B0D-E5BB241D3124}" dt="2026-07-06T07:13:18.781" v="12" actId="20577"/>
      <pc:docMkLst>
        <pc:docMk/>
      </pc:docMkLst>
      <pc:sldChg chg="ord">
        <pc:chgData name="Gauri Wagholikar" userId="e70f0baa88ef6ad3" providerId="LiveId" clId="{58DA3D31-33A8-4E05-9B0D-E5BB241D3124}" dt="2026-07-06T06:25:24.167" v="4"/>
        <pc:sldMkLst>
          <pc:docMk/>
          <pc:sldMk cId="2362991606" sldId="361"/>
        </pc:sldMkLst>
      </pc:sldChg>
      <pc:sldChg chg="modSp mod">
        <pc:chgData name="Gauri Wagholikar" userId="e70f0baa88ef6ad3" providerId="LiveId" clId="{58DA3D31-33A8-4E05-9B0D-E5BB241D3124}" dt="2026-07-06T07:13:18.781" v="12" actId="20577"/>
        <pc:sldMkLst>
          <pc:docMk/>
          <pc:sldMk cId="4009390299" sldId="363"/>
        </pc:sldMkLst>
        <pc:spChg chg="mod">
          <ac:chgData name="Gauri Wagholikar" userId="e70f0baa88ef6ad3" providerId="LiveId" clId="{58DA3D31-33A8-4E05-9B0D-E5BB241D3124}" dt="2026-07-06T07:13:18.781" v="12" actId="20577"/>
          <ac:spMkLst>
            <pc:docMk/>
            <pc:sldMk cId="4009390299" sldId="363"/>
            <ac:spMk id="6" creationId="{00000000-0000-0000-0000-000000000000}"/>
          </ac:spMkLst>
        </pc:spChg>
      </pc:sldChg>
      <pc:sldChg chg="modSp mod">
        <pc:chgData name="Gauri Wagholikar" userId="e70f0baa88ef6ad3" providerId="LiveId" clId="{58DA3D31-33A8-4E05-9B0D-E5BB241D3124}" dt="2026-07-06T04:32:08.053" v="2" actId="114"/>
        <pc:sldMkLst>
          <pc:docMk/>
          <pc:sldMk cId="686497925" sldId="364"/>
        </pc:sldMkLst>
        <pc:spChg chg="mod">
          <ac:chgData name="Gauri Wagholikar" userId="e70f0baa88ef6ad3" providerId="LiveId" clId="{58DA3D31-33A8-4E05-9B0D-E5BB241D3124}" dt="2026-07-06T04:32:08.053" v="2" actId="114"/>
          <ac:spMkLst>
            <pc:docMk/>
            <pc:sldMk cId="686497925" sldId="364"/>
            <ac:spMk id="6" creationId="{00000000-0000-0000-0000-000000000000}"/>
          </ac:spMkLst>
        </pc:spChg>
      </pc:sldChg>
      <pc:sldChg chg="delSp modSp mod">
        <pc:chgData name="Gauri Wagholikar" userId="e70f0baa88ef6ad3" providerId="LiveId" clId="{58DA3D31-33A8-4E05-9B0D-E5BB241D3124}" dt="2026-07-06T06:27:24.445" v="9" actId="1076"/>
        <pc:sldMkLst>
          <pc:docMk/>
          <pc:sldMk cId="0" sldId="367"/>
        </pc:sldMkLst>
        <pc:picChg chg="mod">
          <ac:chgData name="Gauri Wagholikar" userId="e70f0baa88ef6ad3" providerId="LiveId" clId="{58DA3D31-33A8-4E05-9B0D-E5BB241D3124}" dt="2026-07-06T06:27:23.281" v="8" actId="1076"/>
          <ac:picMkLst>
            <pc:docMk/>
            <pc:sldMk cId="0" sldId="367"/>
            <ac:picMk id="5" creationId="{00000000-0000-0000-0000-000000000000}"/>
          </ac:picMkLst>
        </pc:picChg>
        <pc:picChg chg="del">
          <ac:chgData name="Gauri Wagholikar" userId="e70f0baa88ef6ad3" providerId="LiveId" clId="{58DA3D31-33A8-4E05-9B0D-E5BB241D3124}" dt="2026-07-06T06:27:15.665" v="5" actId="478"/>
          <ac:picMkLst>
            <pc:docMk/>
            <pc:sldMk cId="0" sldId="367"/>
            <ac:picMk id="6" creationId="{00000000-0000-0000-0000-000000000000}"/>
          </ac:picMkLst>
        </pc:picChg>
        <pc:picChg chg="mod">
          <ac:chgData name="Gauri Wagholikar" userId="e70f0baa88ef6ad3" providerId="LiveId" clId="{58DA3D31-33A8-4E05-9B0D-E5BB241D3124}" dt="2026-07-06T06:27:24.445" v="9" actId="1076"/>
          <ac:picMkLst>
            <pc:docMk/>
            <pc:sldMk cId="0" sldId="367"/>
            <ac:picMk id="7" creationId="{00000000-0000-0000-0000-000000000000}"/>
          </ac:picMkLst>
        </pc:picChg>
      </pc:sldChg>
      <pc:sldChg chg="modSp mod">
        <pc:chgData name="Gauri Wagholikar" userId="e70f0baa88ef6ad3" providerId="LiveId" clId="{58DA3D31-33A8-4E05-9B0D-E5BB241D3124}" dt="2026-07-05T18:19:07.592" v="1" actId="20577"/>
        <pc:sldMkLst>
          <pc:docMk/>
          <pc:sldMk cId="0" sldId="369"/>
        </pc:sldMkLst>
        <pc:spChg chg="mod">
          <ac:chgData name="Gauri Wagholikar" userId="e70f0baa88ef6ad3" providerId="LiveId" clId="{58DA3D31-33A8-4E05-9B0D-E5BB241D3124}" dt="2026-07-05T18:19:07.592" v="1" actId="20577"/>
          <ac:spMkLst>
            <pc:docMk/>
            <pc:sldMk cId="0" sldId="369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"/>
          <p:cNvSpPr>
            <a:spLocks noGrp="1"/>
          </p:cNvSpPr>
          <p:nvPr>
            <p:ph type="ftr" sz="quarter" idx="2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"/>
          <p:cNvSpPr>
            <a:spLocks noGrp="1"/>
          </p:cNvSpPr>
          <p:nvPr>
            <p:ph type="sldNum" sz="quarter" idx="3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CD9C266D-9BF6-45DD-93F4-23D3D4380AFF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79399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358775" y="431800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  <a:miter lim="800000"/>
          </a:ln>
        </p:spPr>
        <p:txBody>
          <a:bodyPr vert="horz" lIns="0" tIns="0" rIns="0" bIns="0" rtlCol="0" anchor="ctr"/>
          <a:lstStyle/>
          <a:p>
            <a:endParaRPr lang="de-DE" noProof="0" dirty="0"/>
          </a:p>
        </p:txBody>
      </p:sp>
      <p:sp>
        <p:nvSpPr>
          <p:cNvPr id="5" name="Notizen"/>
          <p:cNvSpPr>
            <a:spLocks noGrp="1"/>
          </p:cNvSpPr>
          <p:nvPr>
            <p:ph type="body" sz="quarter" idx="3"/>
          </p:nvPr>
        </p:nvSpPr>
        <p:spPr bwMode="gray">
          <a:xfrm>
            <a:off x="359999" y="4248000"/>
            <a:ext cx="6138000" cy="4068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"/>
          <p:cNvSpPr>
            <a:spLocks noGrp="1"/>
          </p:cNvSpPr>
          <p:nvPr>
            <p:ph type="ftr" sz="quarter" idx="4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noProof="0" dirty="0"/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5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92DA5471-CC57-402A-9527-36A1D012F698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86535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744B1A0D-FEE8-C6BD-679B-2116B0E36EC3}"/>
              </a:ext>
            </a:extLst>
          </p:cNvPr>
          <p:cNvSpPr/>
          <p:nvPr userDrawn="1"/>
        </p:nvSpPr>
        <p:spPr bwMode="gray">
          <a:xfrm>
            <a:off x="-2048296" y="3028950"/>
            <a:ext cx="11029951" cy="2844800"/>
          </a:xfrm>
          <a:prstGeom prst="roundRect">
            <a:avLst>
              <a:gd name="adj" fmla="val 177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5" y="3767352"/>
            <a:ext cx="6317999" cy="540000"/>
          </a:xfrm>
        </p:spPr>
        <p:txBody>
          <a:bodyPr/>
          <a:lstStyle>
            <a:lvl1pPr>
              <a:defRPr sz="44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3A053AC-629D-696D-3EF9-B3CD84330658}"/>
              </a:ext>
            </a:extLst>
          </p:cNvPr>
          <p:cNvGrpSpPr/>
          <p:nvPr userDrawn="1"/>
        </p:nvGrpSpPr>
        <p:grpSpPr>
          <a:xfrm rot="16200000">
            <a:off x="9052317" y="512273"/>
            <a:ext cx="3426623" cy="2402084"/>
            <a:chOff x="7582680" y="1972513"/>
            <a:chExt cx="4621936" cy="3240006"/>
          </a:xfrm>
        </p:grpSpPr>
        <p:sp>
          <p:nvSpPr>
            <p:cNvPr id="16" name="Abgerundetes Rechteck 15">
              <a:extLst>
                <a:ext uri="{FF2B5EF4-FFF2-40B4-BE49-F238E27FC236}">
                  <a16:creationId xmlns:a16="http://schemas.microsoft.com/office/drawing/2014/main" id="{75E80828-49BB-7B6D-7E19-CB2335FC001E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7" name="Träne 16">
              <a:extLst>
                <a:ext uri="{FF2B5EF4-FFF2-40B4-BE49-F238E27FC236}">
                  <a16:creationId xmlns:a16="http://schemas.microsoft.com/office/drawing/2014/main" id="{6711905F-0B3D-4F0D-B878-A07FB1787BE7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8" name="Ecken des Rechtecks auf der gleichen Seite abrunden 17">
              <a:extLst>
                <a:ext uri="{FF2B5EF4-FFF2-40B4-BE49-F238E27FC236}">
                  <a16:creationId xmlns:a16="http://schemas.microsoft.com/office/drawing/2014/main" id="{558E71D1-D0D3-EE76-84F6-D5950541A164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20" name="Freihandform 19">
              <a:extLst>
                <a:ext uri="{FF2B5EF4-FFF2-40B4-BE49-F238E27FC236}">
                  <a16:creationId xmlns:a16="http://schemas.microsoft.com/office/drawing/2014/main" id="{5A236357-9D26-AD57-8B58-D489D3246926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24334888-C654-C5D2-9E44-9AA956BF62BE}"/>
              </a:ext>
            </a:extLst>
          </p:cNvPr>
          <p:cNvSpPr txBox="1"/>
          <p:nvPr userDrawn="1"/>
        </p:nvSpPr>
        <p:spPr bwMode="gray">
          <a:xfrm>
            <a:off x="3554731" y="761238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B158011F-062D-773E-DC64-0AB491631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8B6E0FAF-F2F8-EBB6-5344-C806D3C5C3E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525057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3DE0D8E6-002A-7AD2-F576-41754F3899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387" y="254416"/>
            <a:ext cx="2743200" cy="71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4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3" y="2069824"/>
            <a:ext cx="5735071" cy="1359176"/>
          </a:xfrm>
        </p:spPr>
        <p:txBody>
          <a:bodyPr/>
          <a:lstStyle>
            <a:lvl1pPr>
              <a:defRPr sz="5400" cap="all" spc="400" baseline="0"/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7932421" y="0"/>
            <a:ext cx="4259579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99EAD2F7-48CE-EF0C-77D7-11F780E90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6292613-986E-98DA-CD24-F0CDE15DD0C4}"/>
              </a:ext>
            </a:extLst>
          </p:cNvPr>
          <p:cNvGrpSpPr/>
          <p:nvPr userDrawn="1"/>
        </p:nvGrpSpPr>
        <p:grpSpPr>
          <a:xfrm>
            <a:off x="8589755" y="3294570"/>
            <a:ext cx="4177596" cy="3174456"/>
            <a:chOff x="8860223" y="3611128"/>
            <a:chExt cx="3866783" cy="2938277"/>
          </a:xfrm>
        </p:grpSpPr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A4530298-DA65-EA31-1E02-3FEBA79FC1D6}"/>
                </a:ext>
              </a:extLst>
            </p:cNvPr>
            <p:cNvSpPr/>
            <p:nvPr userDrawn="1"/>
          </p:nvSpPr>
          <p:spPr bwMode="gray">
            <a:xfrm rot="10800000">
              <a:off x="8860223" y="5748716"/>
              <a:ext cx="2537455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B298C402-1761-727E-686F-1A9D27CD4ACD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Ecken des Rechtecks auf der gleichen Seite abrunden 9">
              <a:extLst>
                <a:ext uri="{FF2B5EF4-FFF2-40B4-BE49-F238E27FC236}">
                  <a16:creationId xmlns:a16="http://schemas.microsoft.com/office/drawing/2014/main" id="{7BB49AB3-59F5-2016-3D5A-8E0FC7DE66A4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57892A4A-9F8F-12B2-D3FA-AD0C73A02E2E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6" name="Träne 15">
              <a:extLst>
                <a:ext uri="{FF2B5EF4-FFF2-40B4-BE49-F238E27FC236}">
                  <a16:creationId xmlns:a16="http://schemas.microsoft.com/office/drawing/2014/main" id="{524D76FF-39F8-3959-5FD1-C73CE9334F41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4FEF2A4D-1717-372D-646A-8881DBF94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15CACFF5-6C25-BA26-37BC-8B7DDD55D16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440992"/>
            <a:ext cx="144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739FF9F0-52B9-6AA3-D906-C1BD11398C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8163" y="3684083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Zweite Headline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FA960C0F-08B7-894B-5F7B-EF89C80903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8163" y="4037359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305049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61265F0-F998-3E9D-0044-69E87D9B064C}"/>
              </a:ext>
            </a:extLst>
          </p:cNvPr>
          <p:cNvGrpSpPr/>
          <p:nvPr userDrawn="1"/>
        </p:nvGrpSpPr>
        <p:grpSpPr>
          <a:xfrm>
            <a:off x="7806691" y="3250157"/>
            <a:ext cx="4960660" cy="3174456"/>
            <a:chOff x="8135419" y="3611128"/>
            <a:chExt cx="4591587" cy="2938277"/>
          </a:xfrm>
        </p:grpSpPr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90623127-FF91-A733-8709-AFC3695070A4}"/>
                </a:ext>
              </a:extLst>
            </p:cNvPr>
            <p:cNvSpPr/>
            <p:nvPr userDrawn="1"/>
          </p:nvSpPr>
          <p:spPr bwMode="gray">
            <a:xfrm rot="10800000">
              <a:off x="8135419" y="5748716"/>
              <a:ext cx="3262258" cy="80068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695FA46B-F686-4EAA-D716-C8E31F145FF7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Ecken des Rechtecks auf der gleichen Seite abrunden 9">
              <a:extLst>
                <a:ext uri="{FF2B5EF4-FFF2-40B4-BE49-F238E27FC236}">
                  <a16:creationId xmlns:a16="http://schemas.microsoft.com/office/drawing/2014/main" id="{853261A6-4A1F-4A06-F88F-14356F08944E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F0382D6B-3559-3082-E05C-1227EA0CB64D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5" name="Träne 14">
              <a:extLst>
                <a:ext uri="{FF2B5EF4-FFF2-40B4-BE49-F238E27FC236}">
                  <a16:creationId xmlns:a16="http://schemas.microsoft.com/office/drawing/2014/main" id="{41DB097B-9688-0FC6-7182-6933CE22F3F7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D1980A8E-C9E2-AC17-15DF-0414EB7AA7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88551" y="254658"/>
            <a:ext cx="2743200" cy="718681"/>
          </a:xfrm>
          <a:prstGeom prst="rect">
            <a:avLst/>
          </a:prstGeom>
        </p:spPr>
      </p:pic>
      <p:sp>
        <p:nvSpPr>
          <p:cNvPr id="16" name="Titel 2">
            <a:extLst>
              <a:ext uri="{FF2B5EF4-FFF2-40B4-BE49-F238E27FC236}">
                <a16:creationId xmlns:a16="http://schemas.microsoft.com/office/drawing/2014/main" id="{8025341E-8C5B-FC2B-C5AB-9ED45BC69C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3" y="2069824"/>
            <a:ext cx="5735071" cy="1359176"/>
          </a:xfrm>
        </p:spPr>
        <p:txBody>
          <a:bodyPr/>
          <a:lstStyle>
            <a:lvl1pPr>
              <a:defRPr sz="5400" cap="all" spc="400" baseline="0"/>
            </a:lvl1pPr>
          </a:lstStyle>
          <a:p>
            <a:r>
              <a:rPr lang="de-DE" noProof="0" dirty="0"/>
              <a:t>Titel Ihrer Präsentation</a:t>
            </a:r>
          </a:p>
        </p:txBody>
      </p:sp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F2B35A3F-FE20-F62E-15A1-8A7ABDB48220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440992"/>
            <a:ext cx="144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7AEF825B-C1C6-CA90-C1F6-BAABFB0198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8163" y="3684083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Zweite Headline</a:t>
            </a:r>
          </a:p>
        </p:txBody>
      </p:sp>
      <p:sp>
        <p:nvSpPr>
          <p:cNvPr id="20" name="Textplatzhalter 5">
            <a:extLst>
              <a:ext uri="{FF2B5EF4-FFF2-40B4-BE49-F238E27FC236}">
                <a16:creationId xmlns:a16="http://schemas.microsoft.com/office/drawing/2014/main" id="{E2CE01FB-764A-BD1C-BACB-6C8923F4D4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8163" y="4037359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35524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1" y="1244140"/>
            <a:ext cx="11651467" cy="3307824"/>
          </a:xfrm>
          <a:custGeom>
            <a:avLst/>
            <a:gdLst>
              <a:gd name="connsiteX0" fmla="*/ 0 w 11655425"/>
              <a:gd name="connsiteY0" fmla="*/ 0 h 4120164"/>
              <a:gd name="connsiteX1" fmla="*/ 9595343 w 11655425"/>
              <a:gd name="connsiteY1" fmla="*/ 0 h 4120164"/>
              <a:gd name="connsiteX2" fmla="*/ 11655425 w 11655425"/>
              <a:gd name="connsiteY2" fmla="*/ 2060082 h 4120164"/>
              <a:gd name="connsiteX3" fmla="*/ 9595343 w 11655425"/>
              <a:gd name="connsiteY3" fmla="*/ 4120164 h 4120164"/>
              <a:gd name="connsiteX4" fmla="*/ 0 w 11655425"/>
              <a:gd name="connsiteY4" fmla="*/ 4120164 h 4120164"/>
              <a:gd name="connsiteX0" fmla="*/ 0 w 11655425"/>
              <a:gd name="connsiteY0" fmla="*/ 0 h 4120164"/>
              <a:gd name="connsiteX1" fmla="*/ 9595343 w 11655425"/>
              <a:gd name="connsiteY1" fmla="*/ 0 h 4120164"/>
              <a:gd name="connsiteX2" fmla="*/ 11655425 w 11655425"/>
              <a:gd name="connsiteY2" fmla="*/ 2060082 h 4120164"/>
              <a:gd name="connsiteX3" fmla="*/ 9595343 w 11655425"/>
              <a:gd name="connsiteY3" fmla="*/ 4120164 h 4120164"/>
              <a:gd name="connsiteX4" fmla="*/ 0 w 11655425"/>
              <a:gd name="connsiteY4" fmla="*/ 4120164 h 4120164"/>
              <a:gd name="connsiteX5" fmla="*/ 0 w 11655425"/>
              <a:gd name="connsiteY5" fmla="*/ 0 h 4120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55425" h="4120164">
                <a:moveTo>
                  <a:pt x="0" y="0"/>
                </a:moveTo>
                <a:lnTo>
                  <a:pt x="9595343" y="0"/>
                </a:lnTo>
                <a:cubicBezTo>
                  <a:pt x="10733095" y="0"/>
                  <a:pt x="11655425" y="648137"/>
                  <a:pt x="11655425" y="2060082"/>
                </a:cubicBezTo>
                <a:cubicBezTo>
                  <a:pt x="11655425" y="3472027"/>
                  <a:pt x="10733095" y="4120164"/>
                  <a:pt x="9595343" y="4120164"/>
                </a:cubicBezTo>
                <a:lnTo>
                  <a:pt x="0" y="4120164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777E5226-D6C8-D9EF-323B-B8ECA75A87A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A448B80B-9737-0AEF-F63B-A91A3F17C6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076248" y="26181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9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" y="0"/>
            <a:ext cx="12191999" cy="433692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76DE688-3D7D-921B-78CF-AECA23B3D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1DEE918-F528-94BC-D1C4-43F0EDCD96C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765381" y="1720044"/>
            <a:ext cx="3426623" cy="2402084"/>
            <a:chOff x="7582680" y="1972513"/>
            <a:chExt cx="4621936" cy="3240006"/>
          </a:xfrm>
        </p:grpSpPr>
        <p:sp>
          <p:nvSpPr>
            <p:cNvPr id="12" name="Abgerundetes Rechteck 11">
              <a:extLst>
                <a:ext uri="{FF2B5EF4-FFF2-40B4-BE49-F238E27FC236}">
                  <a16:creationId xmlns:a16="http://schemas.microsoft.com/office/drawing/2014/main" id="{651E178D-20E3-A9EB-5500-6512332972CF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3" name="Träne 12">
              <a:extLst>
                <a:ext uri="{FF2B5EF4-FFF2-40B4-BE49-F238E27FC236}">
                  <a16:creationId xmlns:a16="http://schemas.microsoft.com/office/drawing/2014/main" id="{EAD5913B-7CC1-CC49-5D68-D20FAC880D71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4" name="Ecken des Rechtecks auf der gleichen Seite abrunden 13">
              <a:extLst>
                <a:ext uri="{FF2B5EF4-FFF2-40B4-BE49-F238E27FC236}">
                  <a16:creationId xmlns:a16="http://schemas.microsoft.com/office/drawing/2014/main" id="{D0A979C3-0887-285C-A80B-5BC579A45227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BCBA3CBD-BA7E-E0E0-CC19-B5A638408C52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3A14CAB3-80A8-D39A-7FB1-279E336BFB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1155" y="253114"/>
            <a:ext cx="2743200" cy="7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1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1" y="2704992"/>
            <a:ext cx="6567811" cy="1672597"/>
          </a:xfrm>
        </p:spPr>
        <p:txBody>
          <a:bodyPr anchor="ctr"/>
          <a:lstStyle>
            <a:lvl1pPr>
              <a:defRPr sz="54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91C42C-1E58-51DB-7836-562E70393F2D}"/>
              </a:ext>
            </a:extLst>
          </p:cNvPr>
          <p:cNvSpPr txBox="1"/>
          <p:nvPr userDrawn="1"/>
        </p:nvSpPr>
        <p:spPr bwMode="gray">
          <a:xfrm>
            <a:off x="-952107" y="34219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7B12CCF-A3C3-A33B-006C-2625E501C68D}"/>
              </a:ext>
            </a:extLst>
          </p:cNvPr>
          <p:cNvSpPr txBox="1"/>
          <p:nvPr userDrawn="1"/>
        </p:nvSpPr>
        <p:spPr bwMode="gray">
          <a:xfrm>
            <a:off x="3026004" y="-7070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7F68E5A-4D2F-3B66-CBD9-B01F895B56B3}"/>
              </a:ext>
            </a:extLst>
          </p:cNvPr>
          <p:cNvGrpSpPr/>
          <p:nvPr userDrawn="1"/>
        </p:nvGrpSpPr>
        <p:grpSpPr>
          <a:xfrm>
            <a:off x="-1590" y="-5"/>
            <a:ext cx="2984900" cy="1979629"/>
            <a:chOff x="-1590" y="-5"/>
            <a:chExt cx="2984900" cy="1979629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15960CE-BE2B-2753-8D32-12D29EDB9288}"/>
                </a:ext>
              </a:extLst>
            </p:cNvPr>
            <p:cNvSpPr/>
            <p:nvPr userDrawn="1"/>
          </p:nvSpPr>
          <p:spPr bwMode="gray">
            <a:xfrm rot="10800000">
              <a:off x="961532" y="-3"/>
              <a:ext cx="1508289" cy="10047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8" name="Träne 17">
              <a:extLst>
                <a:ext uri="{FF2B5EF4-FFF2-40B4-BE49-F238E27FC236}">
                  <a16:creationId xmlns:a16="http://schemas.microsoft.com/office/drawing/2014/main" id="{A0B2BBC5-374C-E03C-C219-E976B6CEBE50}"/>
                </a:ext>
              </a:extLst>
            </p:cNvPr>
            <p:cNvSpPr/>
            <p:nvPr userDrawn="1"/>
          </p:nvSpPr>
          <p:spPr bwMode="gray">
            <a:xfrm rot="10800000">
              <a:off x="1978410" y="-2"/>
              <a:ext cx="1004900" cy="1004738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5BBAF3B-9279-6232-956F-E4547E971BBF}"/>
                </a:ext>
              </a:extLst>
            </p:cNvPr>
            <p:cNvSpPr/>
            <p:nvPr userDrawn="1"/>
          </p:nvSpPr>
          <p:spPr bwMode="gray">
            <a:xfrm rot="10800000">
              <a:off x="-1590" y="-5"/>
              <a:ext cx="1980000" cy="197962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22" name="Ecken des Rechtecks auf der gleichen Seite abrunden 21">
            <a:extLst>
              <a:ext uri="{FF2B5EF4-FFF2-40B4-BE49-F238E27FC236}">
                <a16:creationId xmlns:a16="http://schemas.microsoft.com/office/drawing/2014/main" id="{922E8C8C-30D6-7080-0334-C6DBFCE520BA}"/>
              </a:ext>
            </a:extLst>
          </p:cNvPr>
          <p:cNvSpPr/>
          <p:nvPr userDrawn="1"/>
        </p:nvSpPr>
        <p:spPr bwMode="gray">
          <a:xfrm rot="5400000">
            <a:off x="5915334" y="507081"/>
            <a:ext cx="1963393" cy="98169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6887022B-50F5-E2C8-C794-DA70748D7425}"/>
              </a:ext>
            </a:extLst>
          </p:cNvPr>
          <p:cNvSpPr/>
          <p:nvPr userDrawn="1"/>
        </p:nvSpPr>
        <p:spPr bwMode="gray">
          <a:xfrm rot="10800000">
            <a:off x="5924928" y="999987"/>
            <a:ext cx="489821" cy="979643"/>
          </a:xfrm>
          <a:custGeom>
            <a:avLst/>
            <a:gdLst>
              <a:gd name="connsiteX0" fmla="*/ 0 w 540000"/>
              <a:gd name="connsiteY0" fmla="*/ 0 h 1080000"/>
              <a:gd name="connsiteX1" fmla="*/ 540000 w 540000"/>
              <a:gd name="connsiteY1" fmla="*/ 540000 h 1080000"/>
              <a:gd name="connsiteX2" fmla="*/ 0 w 540000"/>
              <a:gd name="connsiteY2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00" h="1080000">
                <a:moveTo>
                  <a:pt x="0" y="0"/>
                </a:moveTo>
                <a:cubicBezTo>
                  <a:pt x="298234" y="0"/>
                  <a:pt x="540000" y="241766"/>
                  <a:pt x="540000" y="540000"/>
                </a:cubicBezTo>
                <a:cubicBezTo>
                  <a:pt x="540000" y="838234"/>
                  <a:pt x="298234" y="1080000"/>
                  <a:pt x="0" y="108000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3C96C92B-E526-C070-9A68-8FF40376523C}"/>
              </a:ext>
            </a:extLst>
          </p:cNvPr>
          <p:cNvSpPr/>
          <p:nvPr userDrawn="1"/>
        </p:nvSpPr>
        <p:spPr bwMode="gray">
          <a:xfrm rot="10800000">
            <a:off x="7387875" y="999985"/>
            <a:ext cx="3123012" cy="97964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5" name="Freihandform 24">
            <a:extLst>
              <a:ext uri="{FF2B5EF4-FFF2-40B4-BE49-F238E27FC236}">
                <a16:creationId xmlns:a16="http://schemas.microsoft.com/office/drawing/2014/main" id="{5484DD6E-4EBD-1D65-002C-D5BABD669C88}"/>
              </a:ext>
            </a:extLst>
          </p:cNvPr>
          <p:cNvSpPr/>
          <p:nvPr userDrawn="1"/>
        </p:nvSpPr>
        <p:spPr bwMode="gray">
          <a:xfrm rot="5400000">
            <a:off x="8032720" y="-496084"/>
            <a:ext cx="1012131" cy="1980000"/>
          </a:xfrm>
          <a:custGeom>
            <a:avLst/>
            <a:gdLst>
              <a:gd name="connsiteX0" fmla="*/ 0 w 540000"/>
              <a:gd name="connsiteY0" fmla="*/ 0 h 1080000"/>
              <a:gd name="connsiteX1" fmla="*/ 540000 w 540000"/>
              <a:gd name="connsiteY1" fmla="*/ 540000 h 1080000"/>
              <a:gd name="connsiteX2" fmla="*/ 0 w 540000"/>
              <a:gd name="connsiteY2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00" h="1080000">
                <a:moveTo>
                  <a:pt x="0" y="0"/>
                </a:moveTo>
                <a:cubicBezTo>
                  <a:pt x="298234" y="0"/>
                  <a:pt x="540000" y="241766"/>
                  <a:pt x="540000" y="540000"/>
                </a:cubicBezTo>
                <a:cubicBezTo>
                  <a:pt x="540000" y="838234"/>
                  <a:pt x="298234" y="1080000"/>
                  <a:pt x="0" y="10800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6" name="Ecken des Rechtecks auf der gleichen Seite abrunden 25">
            <a:extLst>
              <a:ext uri="{FF2B5EF4-FFF2-40B4-BE49-F238E27FC236}">
                <a16:creationId xmlns:a16="http://schemas.microsoft.com/office/drawing/2014/main" id="{FC0F0F63-C19D-31D4-A83B-24518F5AD492}"/>
              </a:ext>
            </a:extLst>
          </p:cNvPr>
          <p:cNvSpPr/>
          <p:nvPr userDrawn="1"/>
        </p:nvSpPr>
        <p:spPr bwMode="gray">
          <a:xfrm rot="10800000">
            <a:off x="9529189" y="-12151"/>
            <a:ext cx="3678099" cy="101168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DA679B1-E2E7-9F8B-8FE8-9674FA97153F}"/>
              </a:ext>
            </a:extLst>
          </p:cNvPr>
          <p:cNvGrpSpPr/>
          <p:nvPr userDrawn="1"/>
        </p:nvGrpSpPr>
        <p:grpSpPr>
          <a:xfrm flipH="1">
            <a:off x="9205511" y="1991779"/>
            <a:ext cx="2984900" cy="1979629"/>
            <a:chOff x="-1590" y="-5"/>
            <a:chExt cx="2984900" cy="1979629"/>
          </a:xfrm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539C6DDD-D071-7EE3-FADB-477592CF60CA}"/>
                </a:ext>
              </a:extLst>
            </p:cNvPr>
            <p:cNvSpPr/>
            <p:nvPr userDrawn="1"/>
          </p:nvSpPr>
          <p:spPr bwMode="gray">
            <a:xfrm rot="10800000">
              <a:off x="961532" y="-3"/>
              <a:ext cx="1508289" cy="10047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29" name="Träne 28">
              <a:extLst>
                <a:ext uri="{FF2B5EF4-FFF2-40B4-BE49-F238E27FC236}">
                  <a16:creationId xmlns:a16="http://schemas.microsoft.com/office/drawing/2014/main" id="{264D79A3-2E31-2CE4-11AD-2D15EDB1B7CA}"/>
                </a:ext>
              </a:extLst>
            </p:cNvPr>
            <p:cNvSpPr/>
            <p:nvPr userDrawn="1"/>
          </p:nvSpPr>
          <p:spPr bwMode="gray">
            <a:xfrm rot="10800000">
              <a:off x="1978410" y="-2"/>
              <a:ext cx="1004900" cy="1004738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C280F4A-4214-436B-55DF-FCC5C88B5701}"/>
                </a:ext>
              </a:extLst>
            </p:cNvPr>
            <p:cNvSpPr/>
            <p:nvPr userDrawn="1"/>
          </p:nvSpPr>
          <p:spPr bwMode="gray">
            <a:xfrm rot="10800000">
              <a:off x="-1590" y="-5"/>
              <a:ext cx="1980000" cy="197962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61A21602-055F-1A95-47F1-F6768C5BDE3F}"/>
              </a:ext>
            </a:extLst>
          </p:cNvPr>
          <p:cNvSpPr/>
          <p:nvPr userDrawn="1"/>
        </p:nvSpPr>
        <p:spPr bwMode="gray">
          <a:xfrm>
            <a:off x="5935088" y="4516176"/>
            <a:ext cx="3123013" cy="979644"/>
          </a:xfrm>
          <a:custGeom>
            <a:avLst/>
            <a:gdLst>
              <a:gd name="connsiteX0" fmla="*/ 489823 w 3123013"/>
              <a:gd name="connsiteY0" fmla="*/ 0 h 979644"/>
              <a:gd name="connsiteX1" fmla="*/ 2633191 w 3123013"/>
              <a:gd name="connsiteY1" fmla="*/ 1 h 979644"/>
              <a:gd name="connsiteX2" fmla="*/ 2637576 w 3123013"/>
              <a:gd name="connsiteY2" fmla="*/ 443 h 979644"/>
              <a:gd name="connsiteX3" fmla="*/ 3123013 w 3123013"/>
              <a:gd name="connsiteY3" fmla="*/ 443 h 979644"/>
              <a:gd name="connsiteX4" fmla="*/ 3123013 w 3123013"/>
              <a:gd name="connsiteY4" fmla="*/ 489822 h 979644"/>
              <a:gd name="connsiteX5" fmla="*/ 3123013 w 3123013"/>
              <a:gd name="connsiteY5" fmla="*/ 489823 h 979644"/>
              <a:gd name="connsiteX6" fmla="*/ 3123013 w 3123013"/>
              <a:gd name="connsiteY6" fmla="*/ 490043 h 979644"/>
              <a:gd name="connsiteX7" fmla="*/ 2633413 w 3123013"/>
              <a:gd name="connsiteY7" fmla="*/ 979643 h 979644"/>
              <a:gd name="connsiteX8" fmla="*/ 2633307 w 3123013"/>
              <a:gd name="connsiteY8" fmla="*/ 979633 h 979644"/>
              <a:gd name="connsiteX9" fmla="*/ 2633191 w 3123013"/>
              <a:gd name="connsiteY9" fmla="*/ 979644 h 979644"/>
              <a:gd name="connsiteX10" fmla="*/ 489822 w 3123013"/>
              <a:gd name="connsiteY10" fmla="*/ 979644 h 979644"/>
              <a:gd name="connsiteX11" fmla="*/ 0 w 3123013"/>
              <a:gd name="connsiteY11" fmla="*/ 489822 h 979644"/>
              <a:gd name="connsiteX12" fmla="*/ 1 w 3123013"/>
              <a:gd name="connsiteY12" fmla="*/ 489822 h 979644"/>
              <a:gd name="connsiteX13" fmla="*/ 489823 w 3123013"/>
              <a:gd name="connsiteY13" fmla="*/ 0 h 97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23013" h="979644">
                <a:moveTo>
                  <a:pt x="489823" y="0"/>
                </a:moveTo>
                <a:lnTo>
                  <a:pt x="2633191" y="1"/>
                </a:lnTo>
                <a:lnTo>
                  <a:pt x="2637576" y="443"/>
                </a:lnTo>
                <a:lnTo>
                  <a:pt x="3123013" y="443"/>
                </a:lnTo>
                <a:lnTo>
                  <a:pt x="3123013" y="489822"/>
                </a:lnTo>
                <a:lnTo>
                  <a:pt x="3123013" y="489823"/>
                </a:lnTo>
                <a:lnTo>
                  <a:pt x="3123013" y="490043"/>
                </a:lnTo>
                <a:cubicBezTo>
                  <a:pt x="3123013" y="760442"/>
                  <a:pt x="2903812" y="979643"/>
                  <a:pt x="2633413" y="979643"/>
                </a:cubicBezTo>
                <a:lnTo>
                  <a:pt x="2633307" y="979633"/>
                </a:lnTo>
                <a:lnTo>
                  <a:pt x="2633191" y="979644"/>
                </a:lnTo>
                <a:lnTo>
                  <a:pt x="489822" y="979644"/>
                </a:lnTo>
                <a:cubicBezTo>
                  <a:pt x="219301" y="979644"/>
                  <a:pt x="0" y="760343"/>
                  <a:pt x="0" y="489822"/>
                </a:cubicBezTo>
                <a:lnTo>
                  <a:pt x="1" y="489822"/>
                </a:lnTo>
                <a:cubicBezTo>
                  <a:pt x="1" y="219301"/>
                  <a:pt x="219302" y="0"/>
                  <a:pt x="489823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34" name="Ecken des Rechtecks auf der gleichen Seite abrunden 33">
            <a:extLst>
              <a:ext uri="{FF2B5EF4-FFF2-40B4-BE49-F238E27FC236}">
                <a16:creationId xmlns:a16="http://schemas.microsoft.com/office/drawing/2014/main" id="{653F5D4B-D26B-36FA-DE7D-0304DD6CCC7E}"/>
              </a:ext>
            </a:extLst>
          </p:cNvPr>
          <p:cNvSpPr/>
          <p:nvPr userDrawn="1"/>
        </p:nvSpPr>
        <p:spPr bwMode="gray">
          <a:xfrm rot="16200000">
            <a:off x="10350212" y="4662708"/>
            <a:ext cx="2520944" cy="1162639"/>
          </a:xfrm>
          <a:prstGeom prst="round2SameRect">
            <a:avLst>
              <a:gd name="adj1" fmla="val 38265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E1E2A0-CE6A-3E55-E670-6F82CB241E4D}"/>
              </a:ext>
            </a:extLst>
          </p:cNvPr>
          <p:cNvSpPr/>
          <p:nvPr userDrawn="1"/>
        </p:nvSpPr>
        <p:spPr bwMode="gray">
          <a:xfrm rot="10800000" flipH="1">
            <a:off x="9058729" y="3596891"/>
            <a:ext cx="1980000" cy="19796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116580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7861A4D-26DF-4B4D-A8C0-9967DC465046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5375" y="193604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35375" y="3278903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5375" y="462177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445843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445843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445843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2014275" y="1936404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014275" y="3279829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2014275" y="4622697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573101" y="193604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573101" y="3278903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573101" y="462177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83568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83568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83568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8052000" y="1936404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8052000" y="3279829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8052000" y="4622697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AE9257-91B7-44F3-6DB2-816167CFF7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1DB18FC-647A-6ED9-F985-63AA871420A7}"/>
              </a:ext>
            </a:extLst>
          </p:cNvPr>
          <p:cNvSpPr txBox="1"/>
          <p:nvPr userDrawn="1"/>
        </p:nvSpPr>
        <p:spPr bwMode="gray">
          <a:xfrm>
            <a:off x="2555913" y="96948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4151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0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F1A127F-F424-45E2-A676-1A010C35CFDA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3" y="1640889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3" y="2566283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40003" y="3491677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281191" y="19832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281191" y="2908707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281191" y="3834115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813623" y="164130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813623" y="2566792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1813623" y="3492324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703733" y="1640889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703733" y="2566297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703733" y="3491705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44920" y="19832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44920" y="2908707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44920" y="3834115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977352" y="164130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977352" y="2566828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7977352" y="349234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81DE1502-CE73-8298-D8C5-3A5D8568BC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540003" y="4417071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582811F0-06F9-4DE4-B020-1D77B9C5ED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 rot="5400000">
            <a:off x="1281191" y="4759523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6F3CB668-33C7-3559-F11F-7DC734C286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813623" y="4417862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4EC4C988-216D-D36C-800D-E7CA930BE08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703733" y="4417113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CCAF996-A951-A0F9-3400-723716D5FE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 rot="5400000">
            <a:off x="7444920" y="4759523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82468B80-FE69-5872-C6AE-00B8B99DE60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>
          <a:xfrm>
            <a:off x="7977352" y="4417874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48DB145D-15D9-9D0B-62E6-36FB7E6F55D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40003" y="5342520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3" name="Textplatzhalter 13">
            <a:extLst>
              <a:ext uri="{FF2B5EF4-FFF2-40B4-BE49-F238E27FC236}">
                <a16:creationId xmlns:a16="http://schemas.microsoft.com/office/drawing/2014/main" id="{A786165B-AF5B-B959-7697-02D4FD033B0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 rot="5400000">
            <a:off x="1281191" y="5684930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202B2D3B-328C-8B2F-4D87-4699A60953E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>
          <a:xfrm>
            <a:off x="1813623" y="5342936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431642EA-BF56-4380-2A32-D46C38C57B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703733" y="5342520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136C8FD7-F04C-06A9-E468-391BF1D863A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 rot="5400000">
            <a:off x="7444920" y="5684930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C358E050-5D2E-31D5-3DE5-9BA06FF64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gray">
          <a:xfrm>
            <a:off x="7977352" y="5343398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4523F32-FF9D-31E0-46B8-E10675490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F66D26DE-7509-D6C2-9FB2-04A24087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0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A8A9A55-2ABC-4FFE-87E5-39C6B5EC27C8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1371CE7E-63D6-B4E5-64A1-C24F9586E3B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D5B7FF04-A8B8-2C74-BD85-B758EFF5D6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67452D9-F2E0-270B-8485-AC0409566E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62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Basis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A8A9A55-2ABC-4FFE-87E5-39C6B5EC27C8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4BEE6E83-38CC-EACB-D6E1-A12EA544E0F8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Straight Connector 8">
            <a:extLst>
              <a:ext uri="{FF2B5EF4-FFF2-40B4-BE49-F238E27FC236}">
                <a16:creationId xmlns:a16="http://schemas.microsoft.com/office/drawing/2014/main" id="{22B07E1B-A715-5FC6-DCBE-9F4ED8650D4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64EDB1D-D840-7CD1-71B6-9629A6C3877A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39DDECA5-A066-00E2-0A0B-20F8CDB49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834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_Basis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9996B166-0B30-ECDE-3951-BE579B226BD6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67FC0A08-A563-B457-62A7-B3683F1470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3F3AAC92-C29A-CAB8-1D8D-A5F06D0A7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78B455D1-9C0B-396A-3A60-C09D542EEACA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540433-DD97-9CC6-73FE-F713798D2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8A4C0A-D6F8-074F-DFD5-C06E045E4A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9082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palte Inhalt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89EA301-FA80-4CD7-855B-3806D9580403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B4568DE3-CFE6-96A7-0F60-2CE4CE37EA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C22C5470-F3B5-62ED-2CEA-0B73B39344E5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418358E0-EB1A-8F8C-6AFA-CE1D12102E0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22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asis 1HL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93F667-5A7C-6FC2-73C3-8B45FDC803D5}"/>
              </a:ext>
            </a:extLst>
          </p:cNvPr>
          <p:cNvSpPr/>
          <p:nvPr userDrawn="1"/>
        </p:nvSpPr>
        <p:spPr bwMode="gray">
          <a:xfrm>
            <a:off x="400693" y="1191802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02F2471-F54C-A94C-4B7B-2A1944F1E1B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5">
            <a:extLst>
              <a:ext uri="{FF2B5EF4-FFF2-40B4-BE49-F238E27FC236}">
                <a16:creationId xmlns:a16="http://schemas.microsoft.com/office/drawing/2014/main" id="{AB4F7139-E249-FDD7-41B0-37E426B0780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E675394-1C73-E3BE-B2BF-8F88CB91DDC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9A4914D5-CD1C-91D9-9CC9-9D245E64B5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10" name="Foliennummernplatzhalter 8">
            <a:extLst>
              <a:ext uri="{FF2B5EF4-FFF2-40B4-BE49-F238E27FC236}">
                <a16:creationId xmlns:a16="http://schemas.microsoft.com/office/drawing/2014/main" id="{6E392A04-143E-1F5C-920D-35B9FA64C2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9554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056D663-3CE6-4D35-8414-429F5E696139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52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A6988E0-CF27-6F7B-051C-01D83490E8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F3AC6AA-7EE2-615F-17B8-57EF4790FC0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7082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ita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0057E71-A46D-4EB4-AA04-9E0B1DE73B56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76000" y="1343027"/>
            <a:ext cx="5916000" cy="4965521"/>
          </a:xfrm>
          <a:prstGeom prst="roundRect">
            <a:avLst>
              <a:gd name="adj" fmla="val 9301"/>
            </a:avLst>
          </a:prstGeom>
          <a:solidFill>
            <a:schemeClr val="accent1"/>
          </a:solidFill>
        </p:spPr>
        <p:txBody>
          <a:bodyPr wrap="square" lIns="720000" tIns="360000" rIns="720000" bIns="360000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2" y="6020548"/>
            <a:ext cx="5400001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A306024-9C95-2495-A8D3-C770E034B0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2A0A7518-710A-6F47-438B-3B2A3D472F5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9985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1EFC4A3-7BF0-4E93-A645-24685B17FB36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4332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09D5253A-D565-7F8D-FD2E-AC147E93B844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8124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72A7860-AF9F-82E2-DA55-12674D25C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5F9FE149-61F0-6F1F-C930-401BCD3723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755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 1/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70838696-0180-4445-B677-64860308D032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4" y="1728000"/>
            <a:ext cx="732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8124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27FCEE5-6C7B-8D55-2B72-27351A8C2B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0BB3BDE4-F447-1BD3-8211-36CC9E53746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734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/2 Zeilen Inhalt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3BBD197-B443-4094-947A-7E775B79C310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52000" y="1728000"/>
            <a:ext cx="540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1829BD12-AEEB-27EA-6591-86E13871D9B0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540000" y="4346081"/>
            <a:ext cx="540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5A407BCC-BE92-C697-C914-2586840781D0}"/>
              </a:ext>
            </a:extLst>
          </p:cNvPr>
          <p:cNvSpPr>
            <a:spLocks noGrp="1"/>
          </p:cNvSpPr>
          <p:nvPr>
            <p:ph sz="quarter" idx="22"/>
          </p:nvPr>
        </p:nvSpPr>
        <p:spPr bwMode="gray">
          <a:xfrm>
            <a:off x="6252000" y="4346081"/>
            <a:ext cx="540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6EFB16F-67A5-3015-E165-B15B61FA8F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D03F86F-38FA-DD08-BBBA-B69F6E4612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12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B848F595-3A53-4465-A9D4-7161448B6804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2" y="6020548"/>
            <a:ext cx="11112001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2" y="1728000"/>
            <a:ext cx="732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8124000" y="1341679"/>
            <a:ext cx="4068000" cy="4526327"/>
          </a:xfrm>
          <a:prstGeom prst="round2DiagRect">
            <a:avLst>
              <a:gd name="adj1" fmla="val 11048"/>
              <a:gd name="adj2" fmla="val 0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ADDAAD3-8C90-C436-2FB2-C0E7F7F8A1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24001" y="5183307"/>
            <a:ext cx="4068000" cy="684694"/>
          </a:xfrm>
          <a:solidFill>
            <a:schemeClr val="bg1">
              <a:alpha val="62772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Bildbeschreibung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A1347CF6-A22F-4A86-BEDF-5E197C109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4" name="Titel 5">
            <a:extLst>
              <a:ext uri="{FF2B5EF4-FFF2-40B4-BE49-F238E27FC236}">
                <a16:creationId xmlns:a16="http://schemas.microsoft.com/office/drawing/2014/main" id="{711EE83A-2BB5-A9EA-8760-727BA5B03A7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592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4" y="0"/>
            <a:ext cx="5940001" cy="685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A61B560-CF7F-E813-D84E-F0F3ECA8A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39F4348-9986-1829-2913-25EB57F6925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1770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96EA9BF-EB8A-4913-8C74-5DF64DAF5843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13EFE7C-F956-1318-08D0-3533C764B8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F862076-240E-C6CE-E482-133D560F9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53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96EA9BF-EB8A-4913-8C74-5DF64DAF5843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1" y="1728000"/>
            <a:ext cx="3233779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760399" y="1728000"/>
            <a:ext cx="4891604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53B1DDE3-1BA7-9A47-EE52-D0832DC5F133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3941171" y="1728000"/>
            <a:ext cx="2651839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B2B4CD9-A441-EBB9-9736-41DF70A9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2" name="Titel 5">
            <a:extLst>
              <a:ext uri="{FF2B5EF4-FFF2-40B4-BE49-F238E27FC236}">
                <a16:creationId xmlns:a16="http://schemas.microsoft.com/office/drawing/2014/main" id="{8C56E851-08CB-B720-BBF4-37CA2DB00E1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714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 + Bild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96EA9BF-EB8A-4913-8C74-5DF64DAF5843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C139267C-758D-19ED-E2E7-D54E2840BFF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8BC89BFE-761E-95AE-EE84-621E157C003F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86E2C9D6-589A-4600-9034-1706C5B29C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9476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 Inhalt + Bild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F8AEEB5-BC44-1476-EF9C-1146AB445E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5E3BB8B0-F0DF-EB98-4262-9CD69FEF9B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4582D6F4-34C4-73B6-17DE-DD68875DF596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E5DAF59F-8181-8931-A211-7FA0A86EC9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11" name="Foliennummernplatzhalter 8">
            <a:extLst>
              <a:ext uri="{FF2B5EF4-FFF2-40B4-BE49-F238E27FC236}">
                <a16:creationId xmlns:a16="http://schemas.microsoft.com/office/drawing/2014/main" id="{D18C086B-FF2D-3D9D-4516-EE00D37193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7360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 + Bilder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F28F8B0-0C1E-411F-AA6B-DC5D3064A0D5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1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227C87D-1EBD-DE71-64CA-8F2BC8AF6D45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412800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62E7437-B246-7E60-400E-1513A4618D4E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 bwMode="gray">
          <a:xfrm>
            <a:off x="825600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4722296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38166" y="4232201"/>
            <a:ext cx="11117263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33F54FC-DF26-8374-0999-215822BFF2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E89CBAA1-D7E7-44C5-3FEF-4ADD29D9A13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351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04CB600-3A52-4CAD-B492-09A49197D7A2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12192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40004" y="4232201"/>
            <a:ext cx="11115425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0B81AC2-BE9A-E8F2-7614-A44D14DEED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3384DF6-53AD-B41E-8C76-46AE6821362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DC589DCD-0883-9ECB-2B5C-2CC68B2235E6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4722296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951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5184405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04CB600-3A52-4CAD-B492-09A49197D7A2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12192000" cy="3376886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40004" y="4839185"/>
            <a:ext cx="11115425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BD7B83-A72F-C384-AF06-9302DAC73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3DA61294-FD76-1050-9A8D-6C090A1FD92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500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1219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D724A35-4CC3-45A1-955B-E9A1310F8EB8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5705570-DF63-C80D-DC16-A121A7C7C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9547E540-028E-809B-5018-43AFF977EBD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63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12192000" cy="586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D724A35-4CC3-45A1-955B-E9A1310F8EB8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DD465-6470-711A-FB34-952E21949C43}"/>
              </a:ext>
            </a:extLst>
          </p:cNvPr>
          <p:cNvSpPr txBox="1"/>
          <p:nvPr userDrawn="1"/>
        </p:nvSpPr>
        <p:spPr bwMode="gray">
          <a:xfrm>
            <a:off x="9575515" y="6883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</p:spTree>
    <p:extLst>
      <p:ext uri="{BB962C8B-B14F-4D97-AF65-F5344CB8AC3E}">
        <p14:creationId xmlns:p14="http://schemas.microsoft.com/office/powerpoint/2010/main" val="177908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DD465-6470-711A-FB34-952E21949C43}"/>
              </a:ext>
            </a:extLst>
          </p:cNvPr>
          <p:cNvSpPr txBox="1"/>
          <p:nvPr userDrawn="1"/>
        </p:nvSpPr>
        <p:spPr bwMode="gray">
          <a:xfrm>
            <a:off x="9575515" y="6883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88FBA2FE-2221-CAAF-14C9-4B49A6E85835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5056D663-3CE6-4D35-8414-429F5E696139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6661BE8-99AB-A0E3-693E-949BB842B0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8" name="Foliennummernplatzhalter 8">
            <a:extLst>
              <a:ext uri="{FF2B5EF4-FFF2-40B4-BE49-F238E27FC236}">
                <a16:creationId xmlns:a16="http://schemas.microsoft.com/office/drawing/2014/main" id="{33C978E7-FBFE-236C-7014-D10F39C1CC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3964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1219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1920AAC-57FF-4A30-824C-41AEEB711D05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40230"/>
            <a:ext cx="3349981" cy="3896666"/>
          </a:xfrm>
          <a:prstGeom prst="roundRect">
            <a:avLst>
              <a:gd name="adj" fmla="val 9502"/>
            </a:avLst>
          </a:prstGeom>
          <a:solidFill>
            <a:schemeClr val="bg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C834D37-8290-7EC9-1D48-400E8CD350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2B5094DC-4193-9938-7288-EC722244EF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297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FEC8DFB-6EF3-6A2C-CE7F-228134656AB7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7A221482-CDA6-4B1D-B609-09B1C41DA36C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4D41A984-A6E0-46DE-7D1E-938B448B479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252000" y="1287552"/>
            <a:ext cx="5400000" cy="2160000"/>
          </a:xfrm>
          <a:prstGeom prst="round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6CF18E5B-64DF-F042-A224-59AF58C58D5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6252000" y="3708000"/>
            <a:ext cx="5400000" cy="2160000"/>
          </a:xfrm>
          <a:prstGeom prst="round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5B42AE5-B0FF-9273-55D9-CFC2E4C955C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40000" y="1255589"/>
            <a:ext cx="5400000" cy="4580444"/>
          </a:xfrm>
          <a:prstGeom prst="roundRect">
            <a:avLst>
              <a:gd name="adj" fmla="val 7684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2F76DCC3-FF69-B4FD-0213-CDABFD16AA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40000" y="5183308"/>
            <a:ext cx="5400000" cy="684694"/>
          </a:xfrm>
          <a:solidFill>
            <a:schemeClr val="bg1">
              <a:alpha val="90000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Bildbeschreibung</a:t>
            </a:r>
          </a:p>
        </p:txBody>
      </p:sp>
    </p:spTree>
    <p:extLst>
      <p:ext uri="{BB962C8B-B14F-4D97-AF65-F5344CB8AC3E}">
        <p14:creationId xmlns:p14="http://schemas.microsoft.com/office/powerpoint/2010/main" val="180152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CF3297A-7534-4AF1-87D7-ED24EC8104A4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8D9B258E-B0C2-507A-7B5E-39C48203A5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1126997" y="1837821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B0D378B3-9B07-827B-284E-9681B1B466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126997" y="2083134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CA3F5608-690A-58C3-7CE7-35C47F1D41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4991367" y="1948277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E9379043-16E5-CC47-7790-C8FC40EB9D0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1126997" y="2560565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A4AB670-2820-6C16-5A91-2575B7FC13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1126997" y="2805878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619C7180-B8D1-2CB2-A9F6-19F3D752A10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4991367" y="2671021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E0F91FA-E60E-C819-47EA-CACF969DCCF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1126997" y="3283309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885A10CC-9BF3-1889-CE8C-25089DE382E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1126997" y="3528622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30B72454-037A-DCBC-BF59-B4DEB4DCE9A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4991367" y="3393765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3ABBB406-5249-8395-6BDA-09E0E214EB3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126997" y="4006053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D2432DD-2DA2-0561-5C4A-FE3FC47BDAA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126997" y="425136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3B5166E5-235A-D20E-6BC9-D1A599B8344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991367" y="411650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DD20F309-AB1E-64EB-00D2-F1B4E493B93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1126997" y="4728797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13069BD-3FDA-098A-2ACB-D69D6EC059C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1126997" y="4974110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C11238BF-0BA9-437C-25BB-8BAED1C7ACA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991367" y="4839253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7FFCC405-161D-7574-52E8-3315C95E432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gray">
          <a:xfrm>
            <a:off x="1126997" y="5451543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0C489351-2F4B-D4F4-B749-FEBBF6EA0A6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1126997" y="569685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79FFA5B-C1F3-B809-708C-59E42F480F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991367" y="556199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3" name="Inhaltsplatzhalter 5">
            <a:extLst>
              <a:ext uri="{FF2B5EF4-FFF2-40B4-BE49-F238E27FC236}">
                <a16:creationId xmlns:a16="http://schemas.microsoft.com/office/drawing/2014/main" id="{312509A8-F2BD-1171-7348-ACC2C8F2C0BB}"/>
              </a:ext>
            </a:extLst>
          </p:cNvPr>
          <p:cNvSpPr>
            <a:spLocks noGrp="1"/>
          </p:cNvSpPr>
          <p:nvPr>
            <p:ph sz="quarter" idx="50"/>
          </p:nvPr>
        </p:nvSpPr>
        <p:spPr bwMode="gray">
          <a:xfrm>
            <a:off x="6576000" y="3895883"/>
            <a:ext cx="5076000" cy="1972118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355E6C0-30AF-B630-3DE9-E4E106A4A2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C351CF62-86BE-BA58-B4D1-D9B9F722BC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514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4B6D16D-8173-46EE-B2CD-4CEFA0A4033B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5148F175-AA4D-D5B2-7712-393A43F12E3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38167" y="1847527"/>
            <a:ext cx="4183127" cy="3638841"/>
          </a:xfrm>
          <a:prstGeom prst="round2DiagRect">
            <a:avLst>
              <a:gd name="adj1" fmla="val 0"/>
              <a:gd name="adj2" fmla="val 14135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6CFC1198-19D8-60AF-38B8-2848F5C344A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5322707" y="2502995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24C1F6E7-E414-C8EC-E907-6ABCE59F20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5322707" y="2748308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92D0F3-F66D-C615-9FC8-59BDC196FB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10659551" y="2613451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EEAE0B9E-482F-75AB-3BFC-33DBB38A874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5322707" y="3225739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51BE45-8971-E31F-1710-FF49A1723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322707" y="3471052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44439C3-F4EE-9111-E27F-FFA0EC9CEB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0659551" y="3336195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4CA8C42E-84F4-3034-0B90-68DECCDD604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5322707" y="3948483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3BA74403-312D-5844-2D79-0D7ABF623D5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5322707" y="419379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795E9C1-C511-3D9B-D2B4-2D01AE7ECE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10659551" y="405893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F2F472A-CC07-D0D8-724D-AC065CAFEAC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5322707" y="4671227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51576017-128E-5451-A3A0-F7A385FEE9B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322707" y="4916540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7A84F5F-4F6B-F311-C15D-3B78C55A8C9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10659551" y="4781683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F63355B-132A-E627-FC83-BCD0822E29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093D810-E1F9-57B6-198F-FBDCD2727BA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40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CCD1AECF-CED7-28BC-6A3B-E63EA7150BE7}"/>
              </a:ext>
            </a:extLst>
          </p:cNvPr>
          <p:cNvSpPr/>
          <p:nvPr userDrawn="1"/>
        </p:nvSpPr>
        <p:spPr bwMode="gray">
          <a:xfrm>
            <a:off x="5" y="1115120"/>
            <a:ext cx="4994031" cy="4258793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D3A4E6D-FD2E-442E-83FC-7573EFCD2903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56AF458-34C8-E19E-4D72-70F10E17DD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47" r="29869"/>
          <a:stretch/>
        </p:blipFill>
        <p:spPr bwMode="gray">
          <a:xfrm>
            <a:off x="2908271" y="526552"/>
            <a:ext cx="2998856" cy="5612946"/>
          </a:xfrm>
          <a:prstGeom prst="rect">
            <a:avLst/>
          </a:prstGeom>
        </p:spPr>
      </p:pic>
      <p:sp>
        <p:nvSpPr>
          <p:cNvPr id="5" name="Bildplatzhalter 15">
            <a:extLst>
              <a:ext uri="{FF2B5EF4-FFF2-40B4-BE49-F238E27FC236}">
                <a16:creationId xmlns:a16="http://schemas.microsoft.com/office/drawing/2014/main" id="{F8EB099B-5535-70E4-43D4-BAE8B7C34BB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310313" y="1267224"/>
            <a:ext cx="2262659" cy="3950316"/>
          </a:xfrm>
          <a:prstGeom prst="rect">
            <a:avLst/>
          </a:prstGeom>
          <a:solidFill>
            <a:srgbClr val="FAFAFA"/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FC4DF547-857B-4B23-A089-77AFDF3A4D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540000" y="1984510"/>
            <a:ext cx="2436160" cy="2520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1F584A04-E815-4911-E924-A3978560E4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483733" y="1790787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87CC6B3-D222-467B-2064-0703F1EE36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7483733" y="2082089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6153100C-5827-8303-C6D6-CDADE528EE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7483733" y="3074635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D2CC7E27-716B-ACCA-F30E-776CDDE7A90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7483733" y="3365937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DE11610-4A58-BD6E-FD8E-A3ED96004E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7483733" y="4358482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55C633C3-52EE-D69F-0FF1-E3FC1130CF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483733" y="4649784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183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chirm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58A9826-622D-4690-8A67-E655201CBA64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pic>
        <p:nvPicPr>
          <p:cNvPr id="3" name="Grafik 2" descr="Ein Bild, das Text, Screenshot, Anzeige, Bilderrahmen enthält.&#10;&#10;Automatisch generierte Beschreibung">
            <a:extLst>
              <a:ext uri="{FF2B5EF4-FFF2-40B4-BE49-F238E27FC236}">
                <a16:creationId xmlns:a16="http://schemas.microsoft.com/office/drawing/2014/main" id="{151E10C6-4528-81A4-8337-D17EA0CB9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5" t="-243" r="-4968" b="243"/>
          <a:stretch/>
        </p:blipFill>
        <p:spPr bwMode="gray">
          <a:xfrm>
            <a:off x="1" y="903491"/>
            <a:ext cx="5580931" cy="4868535"/>
          </a:xfrm>
          <a:prstGeom prst="rect">
            <a:avLst/>
          </a:prstGeom>
        </p:spPr>
      </p:pic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A89D278-95EA-010F-8C07-EADD209081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130325"/>
            <a:ext cx="5123731" cy="3263006"/>
          </a:xfrm>
          <a:prstGeom prst="rect">
            <a:avLst/>
          </a:prstGeom>
          <a:solidFill>
            <a:srgbClr val="262626"/>
          </a:solidFill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Meta OT" panose="020B0504030101020104" pitchFamily="34" charset="0"/>
              </a:defRPr>
            </a:lvl1pPr>
          </a:lstStyle>
          <a:p>
            <a:br>
              <a:rPr lang="de-DE" dirty="0"/>
            </a:br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580131A-87D4-813D-E919-37314A3977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010641" y="4374565"/>
            <a:ext cx="1968871" cy="1502904"/>
          </a:xfrm>
          <a:prstGeom prst="rect">
            <a:avLst/>
          </a:prstGeom>
        </p:spPr>
      </p:pic>
      <p:sp>
        <p:nvSpPr>
          <p:cNvPr id="14" name="Bildplatzhalter 29">
            <a:extLst>
              <a:ext uri="{FF2B5EF4-FFF2-40B4-BE49-F238E27FC236}">
                <a16:creationId xmlns:a16="http://schemas.microsoft.com/office/drawing/2014/main" id="{48A9645A-F7A9-A5F8-525D-800964911E4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3690349" y="4567683"/>
            <a:ext cx="617847" cy="1066035"/>
          </a:xfrm>
          <a:prstGeom prst="rect">
            <a:avLst/>
          </a:prstGeom>
          <a:solidFill>
            <a:srgbClr val="FAFAFA"/>
          </a:solidFill>
        </p:spPr>
        <p:txBody>
          <a:bodyPr/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 dirty="0"/>
              <a:t>Bildplatzhalter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21D66EAA-9E2B-6F1F-1F75-6B0C4E68D8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483733" y="1790787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27E2AF9-FEEF-AC56-15A1-60AFACDB0F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7483733" y="2082089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B32B275-EC56-28FC-E4FA-575314576EB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7483733" y="3074635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3B074B46-E431-249A-9245-C91A2116684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7483733" y="3365937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8DCD0FDE-017A-CE02-CF9A-53D7D4E2B8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xfrm>
            <a:off x="7483733" y="4358482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4A3A7C5C-7D87-C751-803D-3C22C228AEE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483733" y="4649784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3286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E2361B9-B017-499A-9311-458153475966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Freeform: Shape 8">
            <a:extLst>
              <a:ext uri="{FF2B5EF4-FFF2-40B4-BE49-F238E27FC236}">
                <a16:creationId xmlns:a16="http://schemas.microsoft.com/office/drawing/2014/main" id="{D68EFFBF-097E-BE79-716A-009C1E1F7868}"/>
              </a:ext>
            </a:extLst>
          </p:cNvPr>
          <p:cNvSpPr/>
          <p:nvPr userDrawn="1"/>
        </p:nvSpPr>
        <p:spPr bwMode="gray">
          <a:xfrm>
            <a:off x="-754380" y="1728000"/>
            <a:ext cx="5748411" cy="4140000"/>
          </a:xfrm>
          <a:prstGeom prst="roundRect">
            <a:avLst>
              <a:gd name="adj" fmla="val 948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40002" y="2416701"/>
            <a:ext cx="2735047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Vorname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612000" y="1728000"/>
            <a:ext cx="504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3795096" y="2599067"/>
            <a:ext cx="2397869" cy="239786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40002" y="4189441"/>
            <a:ext cx="2735047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400" b="0" cap="all" spc="300" baseline="0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Position</a:t>
            </a:r>
          </a:p>
        </p:txBody>
      </p:sp>
      <p:cxnSp>
        <p:nvCxnSpPr>
          <p:cNvPr id="20" name="Straight Connector 8">
            <a:extLst>
              <a:ext uri="{FF2B5EF4-FFF2-40B4-BE49-F238E27FC236}">
                <a16:creationId xmlns:a16="http://schemas.microsoft.com/office/drawing/2014/main" id="{2B05D207-BDA7-6A42-8F31-60D07859752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55045" y="4032256"/>
            <a:ext cx="72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">
            <a:extLst>
              <a:ext uri="{FF2B5EF4-FFF2-40B4-BE49-F238E27FC236}">
                <a16:creationId xmlns:a16="http://schemas.microsoft.com/office/drawing/2014/main" id="{A9B9723C-DBD7-8882-23B2-FBA22CF8ED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1" name="Titel 5">
            <a:extLst>
              <a:ext uri="{FF2B5EF4-FFF2-40B4-BE49-F238E27FC236}">
                <a16:creationId xmlns:a16="http://schemas.microsoft.com/office/drawing/2014/main" id="{1C62E4C5-E9F6-91AC-9299-0F6BD392212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7582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hell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8">
            <a:extLst>
              <a:ext uri="{FF2B5EF4-FFF2-40B4-BE49-F238E27FC236}">
                <a16:creationId xmlns:a16="http://schemas.microsoft.com/office/drawing/2014/main" id="{CCEE7978-7699-B52A-77FC-D85109D161BD}"/>
              </a:ext>
            </a:extLst>
          </p:cNvPr>
          <p:cNvSpPr/>
          <p:nvPr userDrawn="1"/>
        </p:nvSpPr>
        <p:spPr bwMode="gray">
          <a:xfrm>
            <a:off x="-754380" y="1728000"/>
            <a:ext cx="5748411" cy="4140000"/>
          </a:xfrm>
          <a:prstGeom prst="roundRect">
            <a:avLst>
              <a:gd name="adj" fmla="val 948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E2361B9-B017-499A-9311-458153475966}" type="datetime4">
              <a:rPr lang="de-DE" noProof="0" smtClean="0"/>
              <a:t>5. Juli 2026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Präsentationstitel | Verfasser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40002" y="2416701"/>
            <a:ext cx="2735047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800"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Vorname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612000" y="1728000"/>
            <a:ext cx="504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3795096" y="2599067"/>
            <a:ext cx="2397869" cy="239786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40002" y="4189441"/>
            <a:ext cx="2735047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400" b="0" cap="all" spc="300" baseline="0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Position</a:t>
            </a: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53F48132-47AB-A60C-FB01-A8FE1F4603A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55045" y="4032256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A0D31560-33FD-C814-E5F0-505D3A50F60C}"/>
              </a:ext>
            </a:extLst>
          </p:cNvPr>
          <p:cNvSpPr txBox="1"/>
          <p:nvPr userDrawn="1"/>
        </p:nvSpPr>
        <p:spPr bwMode="gray">
          <a:xfrm>
            <a:off x="13258800" y="291253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A38F7E14-4121-F4F2-8286-9F1D2CA0BD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6" name="Titel 5">
            <a:extLst>
              <a:ext uri="{FF2B5EF4-FFF2-40B4-BE49-F238E27FC236}">
                <a16:creationId xmlns:a16="http://schemas.microsoft.com/office/drawing/2014/main" id="{695F87D1-75FE-9886-D675-81D1445F1CC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708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75E8FF0-AC21-4C70-AB82-0080BE4B4A8F}"/>
              </a:ext>
            </a:extLst>
          </p:cNvPr>
          <p:cNvSpPr/>
          <p:nvPr userDrawn="1"/>
        </p:nvSpPr>
        <p:spPr bwMode="gray">
          <a:xfrm>
            <a:off x="5" y="-1"/>
            <a:ext cx="12191999" cy="685800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114800" y="3159004"/>
            <a:ext cx="7531893" cy="800467"/>
          </a:xfrm>
        </p:spPr>
        <p:txBody>
          <a:bodyPr/>
          <a:lstStyle>
            <a:lvl1pPr algn="ctr">
              <a:defRPr sz="66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4114800" cy="6858000"/>
          </a:xfrm>
          <a:prstGeom prst="round1Rect">
            <a:avLst>
              <a:gd name="adj" fmla="val 11333"/>
            </a:avLst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D96E1AD-219F-60AC-8BF6-91432F8684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75E8FF0-AC21-4C70-AB82-0080BE4B4A8F}"/>
              </a:ext>
            </a:extLst>
          </p:cNvPr>
          <p:cNvSpPr/>
          <p:nvPr userDrawn="1"/>
        </p:nvSpPr>
        <p:spPr bwMode="gray">
          <a:xfrm>
            <a:off x="5" y="-1"/>
            <a:ext cx="12191999" cy="685800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8165" y="2463322"/>
            <a:ext cx="11108531" cy="800467"/>
          </a:xfrm>
        </p:spPr>
        <p:txBody>
          <a:bodyPr/>
          <a:lstStyle>
            <a:lvl1pPr algn="ctr">
              <a:defRPr sz="66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947213-D869-60D1-ED73-9013BF1FA17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1713"/>
          <a:stretch/>
        </p:blipFill>
        <p:spPr>
          <a:xfrm>
            <a:off x="410319" y="-1225267"/>
            <a:ext cx="11364220" cy="7776177"/>
          </a:xfrm>
          <a:prstGeom prst="rect">
            <a:avLst/>
          </a:prstGeom>
        </p:spPr>
      </p:pic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B40A096-0222-4359-B8C1-A087B4E835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836313" y="4590256"/>
            <a:ext cx="8512232" cy="1834363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7717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2828224"/>
            <a:ext cx="11112000" cy="540000"/>
          </a:xfrm>
        </p:spPr>
        <p:txBody>
          <a:bodyPr/>
          <a:lstStyle>
            <a:lvl1pPr>
              <a:defRPr sz="48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00" y="3747975"/>
            <a:ext cx="7920000" cy="814769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25122FB-6BA5-854B-C7DD-EB96D0DBA016}"/>
              </a:ext>
            </a:extLst>
          </p:cNvPr>
          <p:cNvGrpSpPr/>
          <p:nvPr userDrawn="1"/>
        </p:nvGrpSpPr>
        <p:grpSpPr>
          <a:xfrm>
            <a:off x="8589755" y="3294570"/>
            <a:ext cx="4177596" cy="3174456"/>
            <a:chOff x="8860223" y="3611128"/>
            <a:chExt cx="3866783" cy="2938277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B20FC11B-F594-46EA-5125-4A098E173542}"/>
                </a:ext>
              </a:extLst>
            </p:cNvPr>
            <p:cNvSpPr/>
            <p:nvPr userDrawn="1"/>
          </p:nvSpPr>
          <p:spPr bwMode="gray">
            <a:xfrm rot="10800000">
              <a:off x="8860223" y="5748716"/>
              <a:ext cx="2537455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8" name="Träne 7">
              <a:extLst>
                <a:ext uri="{FF2B5EF4-FFF2-40B4-BE49-F238E27FC236}">
                  <a16:creationId xmlns:a16="http://schemas.microsoft.com/office/drawing/2014/main" id="{5AB849FA-B010-4EFC-73B9-E6E24DE2BB88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Ecken des Rechtecks auf der gleichen Seite abrunden 8">
              <a:extLst>
                <a:ext uri="{FF2B5EF4-FFF2-40B4-BE49-F238E27FC236}">
                  <a16:creationId xmlns:a16="http://schemas.microsoft.com/office/drawing/2014/main" id="{157877BB-681C-928E-4763-9608728EFFE0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8383A169-C3E2-BDE4-6190-0CE0A563CCDC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2" name="Träne 11">
              <a:extLst>
                <a:ext uri="{FF2B5EF4-FFF2-40B4-BE49-F238E27FC236}">
                  <a16:creationId xmlns:a16="http://schemas.microsoft.com/office/drawing/2014/main" id="{BDCCAC81-B053-D75F-83F3-37C86C2AEE9F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cxnSp>
        <p:nvCxnSpPr>
          <p:cNvPr id="14" name="Straight Connector 8">
            <a:extLst>
              <a:ext uri="{FF2B5EF4-FFF2-40B4-BE49-F238E27FC236}">
                <a16:creationId xmlns:a16="http://schemas.microsoft.com/office/drawing/2014/main" id="{0279CD82-D7B5-B4BD-FFEA-8D9C31107A7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3554185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D60AE272-9E69-6EF6-A266-8C260AF911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6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25122FB-6BA5-854B-C7DD-EB96D0DBA016}"/>
              </a:ext>
            </a:extLst>
          </p:cNvPr>
          <p:cNvGrpSpPr/>
          <p:nvPr userDrawn="1"/>
        </p:nvGrpSpPr>
        <p:grpSpPr>
          <a:xfrm rot="5400000" flipH="1">
            <a:off x="-64243" y="-643043"/>
            <a:ext cx="4337797" cy="3132967"/>
            <a:chOff x="8235924" y="3649527"/>
            <a:chExt cx="4015066" cy="2899876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B20FC11B-F594-46EA-5125-4A098E173542}"/>
                </a:ext>
              </a:extLst>
            </p:cNvPr>
            <p:cNvSpPr/>
            <p:nvPr userDrawn="1"/>
          </p:nvSpPr>
          <p:spPr bwMode="gray">
            <a:xfrm rot="10800000">
              <a:off x="8235924" y="5748715"/>
              <a:ext cx="4015066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8" name="Träne 7">
              <a:extLst>
                <a:ext uri="{FF2B5EF4-FFF2-40B4-BE49-F238E27FC236}">
                  <a16:creationId xmlns:a16="http://schemas.microsoft.com/office/drawing/2014/main" id="{5AB849FA-B010-4EFC-73B9-E6E24DE2BB88}"/>
                </a:ext>
              </a:extLst>
            </p:cNvPr>
            <p:cNvSpPr/>
            <p:nvPr userDrawn="1"/>
          </p:nvSpPr>
          <p:spPr bwMode="gray">
            <a:xfrm rot="5400000">
              <a:off x="8812971" y="4948090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Ecken des Rechtecks auf der gleichen Seite abrunden 8">
              <a:extLst>
                <a:ext uri="{FF2B5EF4-FFF2-40B4-BE49-F238E27FC236}">
                  <a16:creationId xmlns:a16="http://schemas.microsoft.com/office/drawing/2014/main" id="{157877BB-681C-928E-4763-9608728EFFE0}"/>
                </a:ext>
              </a:extLst>
            </p:cNvPr>
            <p:cNvSpPr/>
            <p:nvPr userDrawn="1"/>
          </p:nvSpPr>
          <p:spPr bwMode="gray">
            <a:xfrm rot="5400000">
              <a:off x="8964351" y="4298777"/>
              <a:ext cx="2099190" cy="800693"/>
            </a:xfrm>
            <a:prstGeom prst="round2SameRect">
              <a:avLst>
                <a:gd name="adj1" fmla="val 48679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CCAC81-B053-D75F-83F3-37C86C2AEE9F}"/>
                </a:ext>
              </a:extLst>
            </p:cNvPr>
            <p:cNvSpPr/>
            <p:nvPr userDrawn="1"/>
          </p:nvSpPr>
          <p:spPr bwMode="gray">
            <a:xfrm rot="5400000">
              <a:off x="10416078" y="3649634"/>
              <a:ext cx="1323297" cy="13230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3632678"/>
            <a:ext cx="4443480" cy="540000"/>
          </a:xfrm>
        </p:spPr>
        <p:txBody>
          <a:bodyPr/>
          <a:lstStyle>
            <a:lvl1pPr>
              <a:defRPr sz="48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00" y="4577570"/>
            <a:ext cx="4443480" cy="1834363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3BC872C-E930-8323-51C9-B62CF1825BB1}"/>
              </a:ext>
            </a:extLst>
          </p:cNvPr>
          <p:cNvSpPr txBox="1"/>
          <p:nvPr userDrawn="1"/>
        </p:nvSpPr>
        <p:spPr bwMode="gray">
          <a:xfrm>
            <a:off x="-1680211" y="3783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119890DA-C7A0-28BC-B13E-47DDB6EC3D8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503672" y="1727200"/>
            <a:ext cx="6226493" cy="4697410"/>
          </a:xfrm>
          <a:prstGeom prst="round2DiagRect">
            <a:avLst>
              <a:gd name="adj1" fmla="val 12052"/>
              <a:gd name="adj2" fmla="val 0"/>
            </a:avLst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3AC8B43-C251-10CD-A5FD-4B5C3F81067F}"/>
              </a:ext>
            </a:extLst>
          </p:cNvPr>
          <p:cNvSpPr txBox="1"/>
          <p:nvPr userDrawn="1"/>
        </p:nvSpPr>
        <p:spPr bwMode="gray">
          <a:xfrm>
            <a:off x="-2527069" y="314221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B5640A00-A2A3-0A60-9BDC-33B6C7672AD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358639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30053AD2-628C-665D-E627-BAC6BA7A7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9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540000" y="1728000"/>
            <a:ext cx="11112000" cy="41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2"/>
          </p:nvPr>
        </p:nvSpPr>
        <p:spPr bwMode="gray">
          <a:xfrm>
            <a:off x="9525403" y="6493063"/>
            <a:ext cx="176582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8F1A127F-F424-45E2-A676-1A010C35CFDA}" type="datetime4">
              <a:rPr lang="de-DE" smtClean="0"/>
              <a:pPr/>
              <a:t>5. Juli 2026</a:t>
            </a:fld>
            <a:endParaRPr lang="de-DE" dirty="0"/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540000" y="6493063"/>
            <a:ext cx="756000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DE" dirty="0"/>
              <a:t>Präsentationstitel | </a:t>
            </a:r>
            <a:r>
              <a:rPr lang="de-DE" dirty="0" err="1"/>
              <a:t>VerfasserPräsentationstitel</a:t>
            </a:r>
            <a:r>
              <a:rPr lang="de-DE" dirty="0"/>
              <a:t> | Verfasser</a:t>
            </a:r>
          </a:p>
          <a:p>
            <a:endParaRPr lang="de-DE" dirty="0"/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41456" y="6493063"/>
            <a:ext cx="310544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2CEFE82-39F2-4F47-8A0C-D5AB3496FA5C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578F8E-ADE3-83CD-BBD4-F2AF811B81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305318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5722733-4586-8907-05DD-71491D81A51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4" y="6426000"/>
            <a:ext cx="11112001" cy="0"/>
          </a:xfrm>
          <a:prstGeom prst="line">
            <a:avLst/>
          </a:prstGeom>
          <a:ln w="12700" cap="rnd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F2446B21-287B-2DE0-0DAB-177DEC62E2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9088556" y="254652"/>
            <a:ext cx="2741417" cy="7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2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3992" r:id="rId2"/>
    <p:sldLayoutId id="2147483975" r:id="rId3"/>
    <p:sldLayoutId id="2147483991" r:id="rId4"/>
    <p:sldLayoutId id="2147484006" r:id="rId5"/>
    <p:sldLayoutId id="2147484008" r:id="rId6"/>
    <p:sldLayoutId id="2147483986" r:id="rId7"/>
    <p:sldLayoutId id="2147484001" r:id="rId8"/>
    <p:sldLayoutId id="2147484015" r:id="rId9"/>
    <p:sldLayoutId id="2147483974" r:id="rId10"/>
    <p:sldLayoutId id="2147484016" r:id="rId11"/>
    <p:sldLayoutId id="2147483976" r:id="rId12"/>
    <p:sldLayoutId id="2147484012" r:id="rId13"/>
    <p:sldLayoutId id="2147483977" r:id="rId14"/>
    <p:sldLayoutId id="2147483995" r:id="rId15"/>
    <p:sldLayoutId id="2147483978" r:id="rId16"/>
    <p:sldLayoutId id="2147483984" r:id="rId17"/>
    <p:sldLayoutId id="2147483985" r:id="rId18"/>
    <p:sldLayoutId id="2147483979" r:id="rId19"/>
    <p:sldLayoutId id="2147484019" r:id="rId20"/>
    <p:sldLayoutId id="2147484013" r:id="rId21"/>
    <p:sldLayoutId id="2147484020" r:id="rId22"/>
    <p:sldLayoutId id="2147483997" r:id="rId23"/>
    <p:sldLayoutId id="2147484014" r:id="rId24"/>
    <p:sldLayoutId id="2147483981" r:id="rId25"/>
    <p:sldLayoutId id="2147484021" r:id="rId26"/>
    <p:sldLayoutId id="2147483982" r:id="rId27"/>
    <p:sldLayoutId id="2147484017" r:id="rId28"/>
    <p:sldLayoutId id="2147484000" r:id="rId29"/>
    <p:sldLayoutId id="2147484018" r:id="rId30"/>
    <p:sldLayoutId id="2147484002" r:id="rId31"/>
    <p:sldLayoutId id="2147483983" r:id="rId32"/>
    <p:sldLayoutId id="2147483993" r:id="rId33"/>
    <p:sldLayoutId id="2147483996" r:id="rId34"/>
    <p:sldLayoutId id="2147483987" r:id="rId35"/>
    <p:sldLayoutId id="2147483988" r:id="rId36"/>
    <p:sldLayoutId id="2147483999" r:id="rId37"/>
    <p:sldLayoutId id="2147484003" r:id="rId38"/>
    <p:sldLayoutId id="2147483990" r:id="rId39"/>
    <p:sldLayoutId id="2147484007" r:id="rId40"/>
    <p:sldLayoutId id="2147483998" r:id="rId41"/>
    <p:sldLayoutId id="2147484005" r:id="rId4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45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13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37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54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72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90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8" userDrawn="1">
          <p15:clr>
            <a:srgbClr val="FBAE40"/>
          </p15:clr>
        </p15:guide>
        <p15:guide id="2" orient="horz" pos="3700" userDrawn="1">
          <p15:clr>
            <a:srgbClr val="FBAE40"/>
          </p15:clr>
        </p15:guide>
        <p15:guide id="3" orient="horz" pos="501" userDrawn="1">
          <p15:clr>
            <a:srgbClr val="FBAE40"/>
          </p15:clr>
        </p15:guide>
        <p15:guide id="4" pos="7343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orient="horz" pos="272" userDrawn="1">
          <p15:clr>
            <a:srgbClr val="FBAE40"/>
          </p15:clr>
        </p15:guide>
        <p15:guide id="7" orient="horz" pos="4047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7">
            <a:extLst>
              <a:ext uri="{FF2B5EF4-FFF2-40B4-BE49-F238E27FC236}">
                <a16:creationId xmlns:a16="http://schemas.microsoft.com/office/drawing/2014/main" id="{895141F0-9181-3C4E-83EA-B6D77B12A7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30328" b="3386"/>
          <a:stretch/>
        </p:blipFill>
        <p:spPr bwMode="gray">
          <a:xfrm>
            <a:off x="1" y="1244140"/>
            <a:ext cx="11651467" cy="3307824"/>
          </a:xfr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36BFC2-C099-61F3-3111-14E32EBF1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823" y="5090984"/>
            <a:ext cx="8704385" cy="509477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Study of VGG16-BN and ResNet34 Encoders in U-Net for Semantic Segmentation on the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CamVid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67881253-DB80-391B-FE79-200FF4534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0533" y="6220043"/>
            <a:ext cx="11110939" cy="216000"/>
          </a:xfrm>
        </p:spPr>
        <p:txBody>
          <a:bodyPr/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Vision and AI 									Gauri Nitin Wagholikar</a:t>
            </a:r>
          </a:p>
        </p:txBody>
      </p:sp>
    </p:spTree>
    <p:extLst>
      <p:ext uri="{BB962C8B-B14F-4D97-AF65-F5344CB8AC3E}">
        <p14:creationId xmlns:p14="http://schemas.microsoft.com/office/powerpoint/2010/main" val="186877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819241F-DBE6-D659-8AB4-30AD7660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14416"/>
            <a:ext cx="8268720" cy="360000"/>
          </a:xfrm>
        </p:spPr>
        <p:txBody>
          <a:bodyPr/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02482F-D4C0-72CB-7DA4-7A52907A9E4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40000" y="1728000"/>
            <a:ext cx="10960338" cy="4140000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Goal: </a:t>
            </a:r>
            <a:r>
              <a:rPr sz="2400" b="0" dirty="0">
                <a:solidFill>
                  <a:srgbClr val="53545A"/>
                </a:solidFill>
                <a:latin typeface="Calibri"/>
              </a:rPr>
              <a:t>How does the choice of encoder backbone (VGG16-BN vs. ResNet34) affect a U-Net’s segmentation accuracy and computational efficiency on urban driving scenes?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8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Pipeline: </a:t>
            </a:r>
            <a:r>
              <a:rPr sz="2400" b="0" dirty="0">
                <a:solidFill>
                  <a:srgbClr val="53545A"/>
                </a:solidFill>
                <a:latin typeface="Calibri"/>
              </a:rPr>
              <a:t>Built a full segmentation pipeline on </a:t>
            </a:r>
            <a:r>
              <a:rPr sz="2400" b="0" dirty="0" err="1">
                <a:solidFill>
                  <a:srgbClr val="53545A"/>
                </a:solidFill>
                <a:latin typeface="Calibri"/>
              </a:rPr>
              <a:t>CamVid</a:t>
            </a:r>
            <a:r>
              <a:rPr lang="en-US" sz="2400" dirty="0">
                <a:solidFill>
                  <a:srgbClr val="53545A"/>
                </a:solidFill>
                <a:latin typeface="Calibri"/>
              </a:rPr>
              <a:t>, </a:t>
            </a:r>
            <a:r>
              <a:rPr sz="2400" b="0" dirty="0">
                <a:solidFill>
                  <a:srgbClr val="53545A"/>
                </a:solidFill>
                <a:latin typeface="Calibri"/>
              </a:rPr>
              <a:t> data preprocessing, two U-Net variants, </a:t>
            </a:r>
            <a:r>
              <a:rPr sz="2400" b="0" dirty="0" err="1">
                <a:solidFill>
                  <a:srgbClr val="53545A"/>
                </a:solidFill>
                <a:latin typeface="Calibri"/>
              </a:rPr>
              <a:t>Optuna</a:t>
            </a:r>
            <a:r>
              <a:rPr sz="2400" b="0" dirty="0">
                <a:solidFill>
                  <a:srgbClr val="53545A"/>
                </a:solidFill>
                <a:latin typeface="Calibri"/>
              </a:rPr>
              <a:t> hyperparameter search, training with a combined CE + Dice loss, and a comprehensive quantitative + qualitative evaluation.</a:t>
            </a:r>
            <a:endParaRPr lang="de-D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6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819241F-DBE6-D659-8AB4-30AD7660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728000"/>
            <a:ext cx="6300000" cy="391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i="0" dirty="0" err="1">
                <a:solidFill>
                  <a:srgbClr val="53545A"/>
                </a:solidFill>
                <a:latin typeface="Calibri"/>
              </a:rPr>
              <a:t>CamVid</a:t>
            </a:r>
            <a:r>
              <a:rPr sz="2000" b="1" i="0" dirty="0">
                <a:solidFill>
                  <a:srgbClr val="53545A"/>
                </a:solidFill>
                <a:latin typeface="Calibri"/>
              </a:rPr>
              <a:t> </a:t>
            </a:r>
            <a:r>
              <a:rPr lang="en-US" sz="2000" b="1" dirty="0">
                <a:solidFill>
                  <a:srgbClr val="53545A"/>
                </a:solidFill>
                <a:latin typeface="Calibri"/>
              </a:rPr>
              <a:t>- </a:t>
            </a:r>
            <a:r>
              <a:rPr sz="2000" b="1" i="0" dirty="0">
                <a:solidFill>
                  <a:srgbClr val="53545A"/>
                </a:solidFill>
                <a:latin typeface="Calibri"/>
              </a:rPr>
              <a:t>Cambridge-driving Labelled Video Database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ED7000"/>
              </a:buClr>
              <a:buFont typeface="Arial"/>
              <a:buChar char="•"/>
            </a:pPr>
            <a:r>
              <a:rPr b="0" i="0" dirty="0">
                <a:solidFill>
                  <a:srgbClr val="53545A"/>
                </a:solidFill>
                <a:latin typeface="Calibri"/>
              </a:rPr>
              <a:t>Urban driving video dataset with pixel-level semantic labels, captured from a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driving vehicle in Cambridge, UK.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ED7000"/>
              </a:buClr>
              <a:buFont typeface="Arial"/>
              <a:buChar char="•"/>
            </a:pPr>
            <a:r>
              <a:rPr b="0" i="0" dirty="0">
                <a:solidFill>
                  <a:srgbClr val="53545A"/>
                </a:solidFill>
                <a:latin typeface="Calibri"/>
              </a:rPr>
              <a:t>Original masks are RGB-coded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256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 X 3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lookup table maps each color to one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of 11 consolidated classes (void pixels 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=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 ignore index 255).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ED7000"/>
              </a:buClr>
              <a:buFont typeface="Arial"/>
              <a:buChar char="•"/>
            </a:pPr>
            <a:r>
              <a:rPr b="0" i="0" dirty="0">
                <a:solidFill>
                  <a:srgbClr val="53545A"/>
                </a:solidFill>
                <a:latin typeface="Calibri"/>
              </a:rPr>
              <a:t>Standard train / </a:t>
            </a:r>
            <a:r>
              <a:rPr b="0" i="0" dirty="0" err="1">
                <a:solidFill>
                  <a:srgbClr val="53545A"/>
                </a:solidFill>
                <a:latin typeface="Calibri"/>
              </a:rPr>
              <a:t>val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 / test folder split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,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 images resized to 256×256 for training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and evaluation.</a:t>
            </a: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ED7000"/>
              </a:buClr>
              <a:buFont typeface="Arial"/>
              <a:buChar char="•"/>
            </a:pPr>
            <a:r>
              <a:rPr b="0" i="0" dirty="0">
                <a:solidFill>
                  <a:srgbClr val="53545A"/>
                </a:solidFill>
                <a:latin typeface="Calibri"/>
              </a:rPr>
              <a:t>Training augmentation: horizontal flip, ±10° rotation, random scale + crop,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53545A"/>
                </a:solidFill>
                <a:latin typeface="Calibri"/>
              </a:rPr>
              <a:t>colour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 jitter, gamma</a:t>
            </a:r>
            <a:r>
              <a:rPr lang="en-US" dirty="0">
                <a:solidFill>
                  <a:srgbClr val="53545A"/>
                </a:solidFill>
                <a:latin typeface="Calibri"/>
              </a:rPr>
              <a:t>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blur and Gaussian noise.</a:t>
            </a:r>
            <a:endParaRPr lang="en-US" b="0" i="0" dirty="0">
              <a:solidFill>
                <a:srgbClr val="53545A"/>
              </a:solidFill>
              <a:latin typeface="Calibri"/>
            </a:endParaRPr>
          </a:p>
          <a:p>
            <a:pPr marL="228600" indent="-228600" algn="l">
              <a:spcBef>
                <a:spcPts val="0"/>
              </a:spcBef>
              <a:spcAft>
                <a:spcPts val="1200"/>
              </a:spcAft>
              <a:buClr>
                <a:srgbClr val="ED7000"/>
              </a:buClr>
              <a:buFont typeface="Arial"/>
              <a:buChar char="•"/>
            </a:pPr>
            <a:r>
              <a:rPr b="0" i="0" dirty="0">
                <a:solidFill>
                  <a:srgbClr val="53545A"/>
                </a:solidFill>
                <a:latin typeface="Calibri"/>
              </a:rPr>
              <a:t>Validation</a:t>
            </a:r>
            <a:r>
              <a:rPr lang="en-US" dirty="0">
                <a:solidFill>
                  <a:srgbClr val="53545A"/>
                </a:solidFill>
                <a:latin typeface="Calibri"/>
              </a:rPr>
              <a:t> and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test: resize + normali</a:t>
            </a:r>
            <a:r>
              <a:rPr lang="en-US" b="0" i="0" dirty="0">
                <a:solidFill>
                  <a:srgbClr val="53545A"/>
                </a:solidFill>
                <a:latin typeface="Calibri"/>
              </a:rPr>
              <a:t>z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e</a:t>
            </a:r>
            <a:r>
              <a:rPr lang="en-US" dirty="0">
                <a:solidFill>
                  <a:srgbClr val="53545A"/>
                </a:solidFill>
                <a:latin typeface="Calibri"/>
              </a:rPr>
              <a:t> </a:t>
            </a:r>
            <a:r>
              <a:rPr b="0" i="0" dirty="0">
                <a:solidFill>
                  <a:srgbClr val="53545A"/>
                </a:solidFill>
                <a:latin typeface="Calibri"/>
              </a:rPr>
              <a:t>only.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91808"/>
              </p:ext>
            </p:extLst>
          </p:nvPr>
        </p:nvGraphicFramePr>
        <p:xfrm>
          <a:off x="7160000" y="1728000"/>
          <a:ext cx="44600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000">
                <a:tc>
                  <a:txBody>
                    <a:bodyPr/>
                    <a:lstStyle/>
                    <a:p>
                      <a:endParaRPr sz="18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>
                    <a:solidFill>
                      <a:srgbClr val="ED7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80000" marR="80000" marT="30000" marB="30000" anchor="ctr">
                    <a:solidFill>
                      <a:srgbClr val="ED7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3545A"/>
                          </a:solidFill>
                          <a:latin typeface="Calibri"/>
                        </a:rPr>
                        <a:t>Sky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53545A"/>
                          </a:solidFill>
                          <a:latin typeface="Calibri"/>
                        </a:rPr>
                        <a:t>Building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53545A"/>
                          </a:solidFill>
                          <a:latin typeface="Calibri"/>
                        </a:rPr>
                        <a:t>ColumnPole</a:t>
                      </a:r>
                      <a:endParaRPr sz="180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3545A"/>
                          </a:solidFill>
                          <a:latin typeface="Calibri"/>
                        </a:rPr>
                        <a:t>Road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3545A"/>
                          </a:solidFill>
                          <a:latin typeface="Calibri"/>
                        </a:rPr>
                        <a:t>Sidewalk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53545A"/>
                          </a:solidFill>
                          <a:latin typeface="Calibri"/>
                        </a:rPr>
                        <a:t>Tree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3545A"/>
                          </a:solidFill>
                          <a:latin typeface="Calibri"/>
                        </a:rPr>
                        <a:t>SignSymbol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3545A"/>
                          </a:solidFill>
                          <a:latin typeface="Calibri"/>
                        </a:rPr>
                        <a:t>Fence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3545A"/>
                          </a:solidFill>
                          <a:latin typeface="Calibri"/>
                        </a:rPr>
                        <a:t>Car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3545A"/>
                          </a:solidFill>
                          <a:latin typeface="Calibri"/>
                        </a:rPr>
                        <a:t>Pedestrian</a:t>
                      </a:r>
                    </a:p>
                  </a:txBody>
                  <a:tcPr marL="80000" marR="80000" marT="30000" marB="300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3545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53545A"/>
                          </a:solidFill>
                          <a:latin typeface="Calibri"/>
                        </a:rPr>
                        <a:t>Bicyclist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45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898B-C522-29B2-314C-CE7145B0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69EF695-CD11-4ED4-8821-AB83C671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Exploration</a:t>
            </a:r>
          </a:p>
        </p:txBody>
      </p:sp>
      <p:pic>
        <p:nvPicPr>
          <p:cNvPr id="4" name="Picture 3" descr="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8000"/>
            <a:ext cx="8654720" cy="432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08720" y="2010080"/>
            <a:ext cx="305464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400" b="1" i="0" dirty="0">
                <a:solidFill>
                  <a:srgbClr val="ED7000"/>
                </a:solidFill>
                <a:latin typeface="Calibri"/>
              </a:rPr>
              <a:t>Severe class imbalance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sz="1400" b="0" i="0" dirty="0">
                <a:solidFill>
                  <a:srgbClr val="53545A"/>
                </a:solidFill>
                <a:latin typeface="Calibri"/>
              </a:rPr>
              <a:t>Road (31.9%) and Building (25.0%) dominate the training pixels.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sz="1400" b="0" i="0" dirty="0" err="1">
                <a:solidFill>
                  <a:srgbClr val="53545A"/>
                </a:solidFill>
                <a:latin typeface="Calibri"/>
              </a:rPr>
              <a:t>ColumnPole</a:t>
            </a:r>
            <a:r>
              <a:rPr sz="1400" b="0" i="0" dirty="0">
                <a:solidFill>
                  <a:srgbClr val="53545A"/>
                </a:solidFill>
                <a:latin typeface="Calibri"/>
              </a:rPr>
              <a:t> (1.1%), Pedestrian (0.7%)</a:t>
            </a:r>
            <a:r>
              <a:rPr lang="en-US" sz="1400" b="0" i="0" dirty="0">
                <a:solidFill>
                  <a:srgbClr val="53545A"/>
                </a:solidFill>
                <a:latin typeface="Calibri"/>
              </a:rPr>
              <a:t>,</a:t>
            </a:r>
            <a:r>
              <a:rPr sz="1400" b="0" i="0" dirty="0">
                <a:solidFill>
                  <a:srgbClr val="53545A"/>
                </a:solidFill>
                <a:latin typeface="Calibri"/>
              </a:rPr>
              <a:t> and Bicyclist (0.5%) are extremely rare.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sz="1400" b="0" i="0" dirty="0">
                <a:solidFill>
                  <a:srgbClr val="53545A"/>
                </a:solidFill>
                <a:latin typeface="Calibri"/>
              </a:rPr>
              <a:t>Train and test distributions are closely matched, so the imbalance is a</a:t>
            </a:r>
            <a:r>
              <a:rPr lang="en-US" sz="1400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53545A"/>
                </a:solidFill>
                <a:latin typeface="Calibri"/>
              </a:rPr>
              <a:t>dataset property, not a split artifact.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lang="en-US" sz="1400" dirty="0">
                <a:solidFill>
                  <a:srgbClr val="53545A"/>
                </a:solidFill>
                <a:latin typeface="Calibri"/>
              </a:rPr>
              <a:t> The reason why </a:t>
            </a:r>
            <a:r>
              <a:rPr sz="1400" b="0" i="0" dirty="0">
                <a:solidFill>
                  <a:srgbClr val="53545A"/>
                </a:solidFill>
                <a:latin typeface="Calibri"/>
              </a:rPr>
              <a:t>combined CE + Dice loss </a:t>
            </a:r>
            <a:r>
              <a:rPr lang="en-US" sz="1400" b="0" i="0" dirty="0">
                <a:solidFill>
                  <a:srgbClr val="53545A"/>
                </a:solidFill>
                <a:latin typeface="Calibri"/>
              </a:rPr>
              <a:t>is </a:t>
            </a:r>
            <a:r>
              <a:rPr sz="1400" b="0" i="0" dirty="0">
                <a:solidFill>
                  <a:srgbClr val="53545A"/>
                </a:solidFill>
                <a:latin typeface="Calibri"/>
              </a:rPr>
              <a:t>used during training</a:t>
            </a:r>
            <a:r>
              <a:rPr lang="en-US" sz="1400" b="0" i="0" dirty="0">
                <a:solidFill>
                  <a:srgbClr val="53545A"/>
                </a:solidFill>
                <a:latin typeface="Calibri"/>
              </a:rPr>
              <a:t>. </a:t>
            </a:r>
            <a:endParaRPr sz="1400" b="0" i="0" dirty="0">
              <a:solidFill>
                <a:srgbClr val="53545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81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EF0F-0329-2D39-384A-E3F56751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78600A0-E182-F66C-AF28-32B680C5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Architecture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623254"/>
              </p:ext>
            </p:extLst>
          </p:nvPr>
        </p:nvGraphicFramePr>
        <p:xfrm>
          <a:off x="1702354" y="4763484"/>
          <a:ext cx="78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FFFFFF"/>
                          </a:solidFill>
                        </a:rPr>
                        <a:t>Components</a:t>
                      </a:r>
                      <a:endParaRPr sz="11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Resolution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Channels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1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53545A"/>
                          </a:solidFill>
                        </a:rPr>
                        <a:t>Conv-BN-</a:t>
                      </a:r>
                      <a:r>
                        <a:rPr sz="1150" b="0" dirty="0" err="1">
                          <a:solidFill>
                            <a:srgbClr val="53545A"/>
                          </a:solidFill>
                        </a:rPr>
                        <a:t>ReLU</a:t>
                      </a:r>
                      <a:r>
                        <a:rPr sz="1150" b="0" dirty="0">
                          <a:solidFill>
                            <a:srgbClr val="53545A"/>
                          </a:solidFill>
                        </a:rPr>
                        <a:t> x2</a:t>
                      </a:r>
                      <a:endParaRPr sz="115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256 x 256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64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2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3545A"/>
                          </a:solidFill>
                        </a:rPr>
                        <a:t>Conv-BN-ReLU x2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128 x 128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128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3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3545A"/>
                          </a:solidFill>
                        </a:rPr>
                        <a:t>Conv-BN-ReLU x3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64 x 64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256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4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53545A"/>
                          </a:solidFill>
                        </a:rPr>
                        <a:t>Conv-BN-</a:t>
                      </a:r>
                      <a:r>
                        <a:rPr sz="1150" b="0" dirty="0" err="1">
                          <a:solidFill>
                            <a:srgbClr val="53545A"/>
                          </a:solidFill>
                        </a:rPr>
                        <a:t>ReLU</a:t>
                      </a:r>
                      <a:r>
                        <a:rPr sz="1150" b="0" dirty="0">
                          <a:solidFill>
                            <a:srgbClr val="53545A"/>
                          </a:solidFill>
                        </a:rPr>
                        <a:t> x3</a:t>
                      </a:r>
                      <a:endParaRPr sz="115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32 x 32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512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5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3545A"/>
                          </a:solidFill>
                        </a:rPr>
                        <a:t>Conv-BN-ReLU x3 (bottleneck)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16 x 16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53545A"/>
                          </a:solidFill>
                        </a:rPr>
                        <a:t>512</a:t>
                      </a:r>
                      <a:endParaRPr sz="115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401" y="6283653"/>
            <a:ext cx="1012384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 dirty="0">
                <a:solidFill>
                  <a:srgbClr val="53545A"/>
                </a:solidFill>
                <a:latin typeface="Calibri"/>
              </a:rPr>
              <a:t>Pretrained on ImageNet. Stage 1 keeps full 256×256 resolution before any</a:t>
            </a:r>
            <a:r>
              <a:rPr lang="en-US" sz="1250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3545A"/>
                </a:solidFill>
                <a:latin typeface="Calibri"/>
              </a:rPr>
              <a:t>downsampling</a:t>
            </a:r>
            <a:r>
              <a:rPr lang="en-US" sz="1250" b="0" i="0" dirty="0">
                <a:solidFill>
                  <a:srgbClr val="53545A"/>
                </a:solidFill>
                <a:latin typeface="Calibri"/>
              </a:rPr>
              <a:t>: the decoder receives</a:t>
            </a:r>
            <a:r>
              <a:rPr sz="1250" b="0" i="0" dirty="0">
                <a:solidFill>
                  <a:srgbClr val="53545A"/>
                </a:solidFill>
                <a:latin typeface="Calibri"/>
              </a:rPr>
              <a:t> a full-resolution skip connection.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907C42-02BC-C2F2-D703-A658EF116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190" y="1085097"/>
            <a:ext cx="5319806" cy="3581001"/>
          </a:xfrm>
          <a:prstGeom prst="rect">
            <a:avLst/>
          </a:prstGeom>
        </p:spPr>
      </p:pic>
      <p:sp>
        <p:nvSpPr>
          <p:cNvPr id="8" name="Titel 2">
            <a:extLst>
              <a:ext uri="{FF2B5EF4-FFF2-40B4-BE49-F238E27FC236}">
                <a16:creationId xmlns:a16="http://schemas.microsoft.com/office/drawing/2014/main" id="{B659927C-F652-E9D0-46C3-43A46E43F64A}"/>
              </a:ext>
            </a:extLst>
          </p:cNvPr>
          <p:cNvSpPr txBox="1">
            <a:spLocks/>
          </p:cNvSpPr>
          <p:nvPr/>
        </p:nvSpPr>
        <p:spPr bwMode="gray">
          <a:xfrm>
            <a:off x="540000" y="837349"/>
            <a:ext cx="826872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Vgg16_BN with Unet</a:t>
            </a:r>
          </a:p>
        </p:txBody>
      </p:sp>
    </p:spTree>
    <p:extLst>
      <p:ext uri="{BB962C8B-B14F-4D97-AF65-F5344CB8AC3E}">
        <p14:creationId xmlns:p14="http://schemas.microsoft.com/office/powerpoint/2010/main" val="272668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1B7B1-211F-90CC-3D6C-453544C4F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D4AFABD-20AF-EB75-CE61-39E2E730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770116"/>
              </p:ext>
            </p:extLst>
          </p:nvPr>
        </p:nvGraphicFramePr>
        <p:xfrm>
          <a:off x="1920240" y="4000824"/>
          <a:ext cx="78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FFFFFF"/>
                          </a:solidFill>
                        </a:rPr>
                        <a:t>Components</a:t>
                      </a:r>
                      <a:endParaRPr sz="11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Resolution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Channels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0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3545A"/>
                          </a:solidFill>
                        </a:rPr>
                        <a:t>conv1 + BN + ReLU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128 x 128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64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1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3545A"/>
                          </a:solidFill>
                        </a:rPr>
                        <a:t>MaxPool + layer1 (x3 residual)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64 x 64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64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2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53545A"/>
                          </a:solidFill>
                        </a:rPr>
                        <a:t>layer2 (x4 residual)</a:t>
                      </a:r>
                      <a:endParaRPr sz="115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32 x 32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128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3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3545A"/>
                          </a:solidFill>
                        </a:rPr>
                        <a:t>layer3 (x6 residual)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16 x 16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256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53545A"/>
                          </a:solidFill>
                        </a:rPr>
                        <a:t>4</a:t>
                      </a:r>
                      <a:endParaRPr sz="11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3545A"/>
                          </a:solidFill>
                        </a:rPr>
                        <a:t>layer4 (x3 residual, bottleneck)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3545A"/>
                          </a:solidFill>
                        </a:rPr>
                        <a:t>8 x 8</a:t>
                      </a:r>
                      <a:endParaRPr sz="11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53545A"/>
                          </a:solidFill>
                        </a:rPr>
                        <a:t>512</a:t>
                      </a:r>
                      <a:endParaRPr sz="115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20240" y="5818172"/>
            <a:ext cx="78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 dirty="0">
                <a:solidFill>
                  <a:srgbClr val="53545A"/>
                </a:solidFill>
                <a:latin typeface="Calibri"/>
              </a:rPr>
              <a:t>The stem already </a:t>
            </a:r>
            <a:r>
              <a:rPr sz="1600" b="0" i="0" dirty="0" err="1">
                <a:solidFill>
                  <a:srgbClr val="53545A"/>
                </a:solidFill>
                <a:latin typeface="Calibri"/>
              </a:rPr>
              <a:t>downsamples</a:t>
            </a:r>
            <a:r>
              <a:rPr sz="1600" b="0" i="0" dirty="0">
                <a:solidFill>
                  <a:srgbClr val="53545A"/>
                </a:solidFill>
                <a:latin typeface="Calibri"/>
              </a:rPr>
              <a:t> 2x before the first residual block</a:t>
            </a:r>
            <a:r>
              <a:rPr lang="en-US" sz="1600" b="0" i="0" dirty="0">
                <a:solidFill>
                  <a:srgbClr val="53545A"/>
                </a:solidFill>
                <a:latin typeface="Calibri"/>
              </a:rPr>
              <a:t>, and the </a:t>
            </a:r>
            <a:r>
              <a:rPr sz="1600" b="0" i="0" dirty="0">
                <a:solidFill>
                  <a:srgbClr val="53545A"/>
                </a:solidFill>
                <a:latin typeface="Calibri"/>
              </a:rPr>
              <a:t>shallowest skip is 128×128, not 256×256 as in VGG16-BN.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904CBB-C327-470C-BA7D-457AA0877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693" y="1357176"/>
            <a:ext cx="4513907" cy="2366424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6DA8174-1C6F-4AB7-D57E-B3971723F20E}"/>
              </a:ext>
            </a:extLst>
          </p:cNvPr>
          <p:cNvSpPr txBox="1">
            <a:spLocks/>
          </p:cNvSpPr>
          <p:nvPr/>
        </p:nvSpPr>
        <p:spPr bwMode="gray">
          <a:xfrm>
            <a:off x="540000" y="837349"/>
            <a:ext cx="826872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resnet34 with Unet</a:t>
            </a:r>
          </a:p>
        </p:txBody>
      </p:sp>
    </p:spTree>
    <p:extLst>
      <p:ext uri="{BB962C8B-B14F-4D97-AF65-F5344CB8AC3E}">
        <p14:creationId xmlns:p14="http://schemas.microsoft.com/office/powerpoint/2010/main" val="355734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46C2-214C-3CB3-E0D7-8CD6B097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11E72DB-ED60-CCA4-7D05-FE503B0A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 parameter tunning by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728000"/>
            <a:ext cx="510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600" b="1" i="0" dirty="0">
                <a:solidFill>
                  <a:srgbClr val="ED7000"/>
                </a:solidFill>
                <a:latin typeface="Calibri"/>
              </a:rPr>
              <a:t>Search Strategy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sz="1350" b="0" i="0" dirty="0">
                <a:solidFill>
                  <a:srgbClr val="53545A"/>
                </a:solidFill>
                <a:latin typeface="Calibri"/>
              </a:rPr>
              <a:t>Tree-structured </a:t>
            </a:r>
            <a:r>
              <a:rPr sz="1350" b="0" i="0" dirty="0" err="1">
                <a:solidFill>
                  <a:srgbClr val="53545A"/>
                </a:solidFill>
                <a:latin typeface="Calibri"/>
              </a:rPr>
              <a:t>Parzen</a:t>
            </a:r>
            <a:r>
              <a:rPr sz="1350" b="0" i="0" dirty="0">
                <a:solidFill>
                  <a:srgbClr val="53545A"/>
                </a:solidFill>
                <a:latin typeface="Calibri"/>
              </a:rPr>
              <a:t> Estimator (TPE), 20 trials per encoder,
each trained for 20 epochs, </a:t>
            </a:r>
            <a:r>
              <a:rPr sz="1350" b="0" i="0" dirty="0" err="1">
                <a:solidFill>
                  <a:srgbClr val="53545A"/>
                </a:solidFill>
                <a:latin typeface="Calibri"/>
              </a:rPr>
              <a:t>maximising</a:t>
            </a:r>
            <a:r>
              <a:rPr sz="1350" b="0" i="0" dirty="0">
                <a:solidFill>
                  <a:srgbClr val="53545A"/>
                </a:solidFill>
                <a:latin typeface="Calibri"/>
              </a:rPr>
              <a:t> validation </a:t>
            </a:r>
            <a:r>
              <a:rPr sz="1350" b="0" i="0" dirty="0" err="1">
                <a:solidFill>
                  <a:srgbClr val="53545A"/>
                </a:solidFill>
                <a:latin typeface="Calibri"/>
              </a:rPr>
              <a:t>mIoU</a:t>
            </a:r>
            <a:r>
              <a:rPr sz="1350" b="0" i="0" dirty="0">
                <a:solidFill>
                  <a:srgbClr val="53545A"/>
                </a:solidFill>
                <a:latin typeface="Calibri"/>
              </a:rPr>
              <a:t>.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sz="1350" b="0" i="0" dirty="0" err="1">
                <a:solidFill>
                  <a:srgbClr val="53545A"/>
                </a:solidFill>
                <a:latin typeface="Calibri"/>
              </a:rPr>
              <a:t>MedianPruner</a:t>
            </a:r>
            <a:r>
              <a:rPr sz="1350" b="0" i="0" dirty="0">
                <a:solidFill>
                  <a:srgbClr val="53545A"/>
                </a:solidFill>
                <a:latin typeface="Calibri"/>
              </a:rPr>
              <a:t> with 2 warm-up steps terminates weak trials early.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buNone/>
            </a:pPr>
            <a:r>
              <a:rPr sz="1500" b="1" i="0" dirty="0">
                <a:solidFill>
                  <a:srgbClr val="ED7000"/>
                </a:solidFill>
                <a:latin typeface="Calibri"/>
              </a:rPr>
              <a:t>Search space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ED7000"/>
              </a:buClr>
              <a:buFont typeface="Arial"/>
              <a:buChar char="•"/>
            </a:pPr>
            <a:r>
              <a:rPr sz="1300" b="0" i="0" dirty="0">
                <a:solidFill>
                  <a:srgbClr val="53545A"/>
                </a:solidFill>
                <a:latin typeface="Calibri"/>
              </a:rPr>
              <a:t>Learning rate: log-uniform [1e-5, 1e-3]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ED7000"/>
              </a:buClr>
              <a:buFont typeface="Arial"/>
              <a:buChar char="•"/>
            </a:pPr>
            <a:r>
              <a:rPr sz="1300" b="0" i="0" dirty="0">
                <a:solidFill>
                  <a:srgbClr val="53545A"/>
                </a:solidFill>
                <a:latin typeface="Calibri"/>
              </a:rPr>
              <a:t>Batch size: {2, 4}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ED7000"/>
              </a:buClr>
              <a:buFont typeface="Arial"/>
              <a:buChar char="•"/>
            </a:pPr>
            <a:r>
              <a:rPr sz="1300" b="0" i="0" dirty="0">
                <a:solidFill>
                  <a:srgbClr val="53545A"/>
                </a:solidFill>
                <a:latin typeface="Calibri"/>
              </a:rPr>
              <a:t>Optimizer: Adam / </a:t>
            </a:r>
            <a:r>
              <a:rPr sz="1300" b="0" i="0" dirty="0" err="1">
                <a:solidFill>
                  <a:srgbClr val="53545A"/>
                </a:solidFill>
                <a:latin typeface="Calibri"/>
              </a:rPr>
              <a:t>AdamW</a:t>
            </a:r>
            <a:endParaRPr sz="1300" b="0" i="0" dirty="0">
              <a:solidFill>
                <a:srgbClr val="53545A"/>
              </a:solidFill>
              <a:latin typeface="Calibri"/>
            </a:endParaRP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ED7000"/>
              </a:buClr>
              <a:buFont typeface="Arial"/>
              <a:buChar char="•"/>
            </a:pPr>
            <a:r>
              <a:rPr sz="1300" b="0" i="0" dirty="0">
                <a:solidFill>
                  <a:srgbClr val="53545A"/>
                </a:solidFill>
                <a:latin typeface="Calibri"/>
              </a:rPr>
              <a:t>Weight decay: log-uniform [1e-6, 1e-2]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ED7000"/>
              </a:buClr>
              <a:buFont typeface="Arial"/>
              <a:buChar char="•"/>
            </a:pPr>
            <a:r>
              <a:rPr sz="1300" b="0" i="0" dirty="0">
                <a:solidFill>
                  <a:srgbClr val="53545A"/>
                </a:solidFill>
                <a:latin typeface="Calibri"/>
              </a:rPr>
              <a:t>CE loss weight: uniform [0.2, 0.8] (Dice weight = 1 − CE weight)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427762"/>
              </p:ext>
            </p:extLst>
          </p:nvPr>
        </p:nvGraphicFramePr>
        <p:xfrm>
          <a:off x="5900000" y="1878000"/>
          <a:ext cx="57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Setting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UNet-VGG16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UNet-ResNet34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Best val mIoU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0.748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0.720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CE weight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0.623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0.557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Dice weight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0.377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0.443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Learning rate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1.10e-4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1.84e-4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Batch size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2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2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Optimizer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AdamW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Adam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Weight decay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5.43e-5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53545A"/>
                          </a:solidFill>
                        </a:rPr>
                        <a:t>3.19e-6</a:t>
                      </a:r>
                      <a:endParaRPr sz="130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99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3C28-BA1B-5F27-00B9-5830233F1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D3FEB86-632A-D5E8-369D-A2B4A7E2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</a:t>
            </a:r>
          </a:p>
        </p:txBody>
      </p:sp>
      <p:pic>
        <p:nvPicPr>
          <p:cNvPr id="4" name="Picture 3" descr="loss_an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00" y="2628000"/>
            <a:ext cx="9720000" cy="32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1728000"/>
            <a:ext cx="11112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ED7000"/>
              </a:buClr>
              <a:buFont typeface="Arial"/>
              <a:buChar char="•"/>
            </a:pPr>
            <a:r>
              <a:rPr sz="1400" b="0" i="0" dirty="0">
                <a:solidFill>
                  <a:srgbClr val="53545A"/>
                </a:solidFill>
                <a:latin typeface="Calibri"/>
              </a:rPr>
              <a:t>50 epochs · combined CE + Dice loss · cosine-annealing LR · gradient clipping (max norm 1.0) · AMP (mixed precision) · early stopping (patience 10, never triggered) · seed 42</a:t>
            </a:r>
          </a:p>
        </p:txBody>
      </p:sp>
    </p:spTree>
    <p:extLst>
      <p:ext uri="{BB962C8B-B14F-4D97-AF65-F5344CB8AC3E}">
        <p14:creationId xmlns:p14="http://schemas.microsoft.com/office/powerpoint/2010/main" val="303962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93BBA-60AB-24AB-CCF0-6EAA6CFB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B686165-EFCA-DB71-047F-FB28473D3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dirty="0">
                <a:latin typeface="Calibri"/>
              </a:rPr>
              <a:t>Training Diagnostics</a:t>
            </a:r>
          </a:p>
        </p:txBody>
      </p:sp>
      <p:pic>
        <p:nvPicPr>
          <p:cNvPr id="4" name="Picture 3" descr="training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500" y="1728000"/>
            <a:ext cx="7875000" cy="2100000"/>
          </a:xfrm>
          <a:prstGeom prst="rect">
            <a:avLst/>
          </a:prstGeom>
        </p:spPr>
      </p:pic>
      <p:pic>
        <p:nvPicPr>
          <p:cNvPr id="5" name="Picture 4" descr="accurac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00" y="3928000"/>
            <a:ext cx="3325000" cy="1900000"/>
          </a:xfrm>
          <a:prstGeom prst="rect">
            <a:avLst/>
          </a:prstGeom>
        </p:spPr>
      </p:pic>
      <p:pic>
        <p:nvPicPr>
          <p:cNvPr id="6" name="Picture 5" descr="lr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500" y="3928000"/>
            <a:ext cx="3325000" cy="1900000"/>
          </a:xfrm>
          <a:prstGeom prst="rect">
            <a:avLst/>
          </a:prstGeom>
        </p:spPr>
      </p:pic>
      <p:pic>
        <p:nvPicPr>
          <p:cNvPr id="7" name="Picture 6" descr="gradient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500" y="3928000"/>
            <a:ext cx="3325000" cy="1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3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122B-4364-7D96-B8C2-1E851E11E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BEDABDE-A737-3290-C4A0-C771D5E8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dirty="0">
                <a:latin typeface="Calibri"/>
              </a:rPr>
              <a:t>Test Results </a:t>
            </a:r>
            <a:r>
              <a:rPr lang="en-US" dirty="0">
                <a:latin typeface="Calibri"/>
              </a:rPr>
              <a:t>-</a:t>
            </a:r>
            <a:r>
              <a:rPr dirty="0">
                <a:latin typeface="Calibri"/>
              </a:rPr>
              <a:t> Quantitative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202925"/>
              </p:ext>
            </p:extLst>
          </p:nvPr>
        </p:nvGraphicFramePr>
        <p:xfrm>
          <a:off x="540000" y="1728000"/>
          <a:ext cx="54000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14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Segmentation Quality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VGG16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ResNet34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mIoU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0.7123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0.6729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Pixel Accuracy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0.933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0.923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Mean Dice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0.814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0.781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Macro Precision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0.844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0.811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Macro Recall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0.791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0.760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7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Mean Boundary F1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0.662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53545A"/>
                          </a:solidFill>
                        </a:rPr>
                        <a:t>0.608</a:t>
                      </a:r>
                      <a:endParaRPr sz="130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649313"/>
              </p:ext>
            </p:extLst>
          </p:nvPr>
        </p:nvGraphicFramePr>
        <p:xfrm>
          <a:off x="6100000" y="1728000"/>
          <a:ext cx="54000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Efficiency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VGG16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ResNet34</a:t>
                      </a:r>
                      <a:endParaRPr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Parameters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25.79M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31.57M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53545A"/>
                          </a:solidFill>
                        </a:rPr>
                        <a:t>Model Size</a:t>
                      </a:r>
                      <a:endParaRPr sz="1300" b="1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98.4 MB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120.4 MB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GFLOPs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76.42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17.75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GPU Peak Memory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199.3 MB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178.6 MB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Avg. Latency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8.89 ms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5.37 ms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7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3545A"/>
                          </a:solidFill>
                        </a:rPr>
                        <a:t>FPS</a:t>
                      </a:r>
                      <a:endParaRPr sz="130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3545A"/>
                          </a:solidFill>
                        </a:rPr>
                        <a:t>112.5</a:t>
                      </a:r>
                      <a:endParaRPr sz="130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53545A"/>
                          </a:solidFill>
                        </a:rPr>
                        <a:t>186.2</a:t>
                      </a:r>
                      <a:endParaRPr sz="130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5208000"/>
            <a:ext cx="1111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50" b="0" dirty="0">
                <a:solidFill>
                  <a:srgbClr val="ED7000"/>
                </a:solidFill>
                <a:latin typeface="Calibri"/>
              </a:rPr>
              <a:t>VGG16-BN wins on every quality metric</a:t>
            </a:r>
            <a:r>
              <a:rPr lang="en-US" sz="1350" b="0" dirty="0">
                <a:solidFill>
                  <a:srgbClr val="ED7000"/>
                </a:solidFill>
                <a:latin typeface="Calibri"/>
              </a:rPr>
              <a:t>,</a:t>
            </a:r>
            <a:r>
              <a:rPr sz="1350" b="0" dirty="0">
                <a:solidFill>
                  <a:srgbClr val="ED7000"/>
                </a:solidFill>
                <a:latin typeface="Calibri"/>
              </a:rPr>
              <a:t> ResNet34 wins on every efficiency metric</a:t>
            </a:r>
            <a:r>
              <a:rPr lang="en-US" sz="1350" b="0" dirty="0">
                <a:solidFill>
                  <a:srgbClr val="ED7000"/>
                </a:solidFill>
                <a:latin typeface="Calibri"/>
              </a:rPr>
              <a:t>, with</a:t>
            </a:r>
            <a:r>
              <a:rPr sz="1350" b="0" dirty="0">
                <a:solidFill>
                  <a:srgbClr val="ED7000"/>
                </a:solidFill>
                <a:latin typeface="Calibri"/>
              </a:rPr>
              <a:t> a 3.9-point </a:t>
            </a:r>
            <a:r>
              <a:rPr sz="1350" b="0" dirty="0" err="1">
                <a:solidFill>
                  <a:srgbClr val="ED7000"/>
                </a:solidFill>
                <a:latin typeface="Calibri"/>
              </a:rPr>
              <a:t>mIoU</a:t>
            </a:r>
            <a:r>
              <a:rPr sz="1350" b="0" dirty="0">
                <a:solidFill>
                  <a:srgbClr val="ED7000"/>
                </a:solidFill>
                <a:latin typeface="Calibri"/>
              </a:rPr>
              <a:t> gap against a 4.3</a:t>
            </a:r>
            <a:r>
              <a:rPr lang="en-US" sz="1350" b="0" dirty="0">
                <a:solidFill>
                  <a:srgbClr val="ED7000"/>
                </a:solidFill>
                <a:latin typeface="Calibri"/>
              </a:rPr>
              <a:t> times</a:t>
            </a:r>
            <a:r>
              <a:rPr sz="1350" b="0" dirty="0">
                <a:solidFill>
                  <a:srgbClr val="ED7000"/>
                </a:solidFill>
                <a:latin typeface="Calibri"/>
              </a:rPr>
              <a:t> compute-cost reduction.</a:t>
            </a:r>
          </a:p>
        </p:txBody>
      </p:sp>
    </p:spTree>
    <p:extLst>
      <p:ext uri="{BB962C8B-B14F-4D97-AF65-F5344CB8AC3E}">
        <p14:creationId xmlns:p14="http://schemas.microsoft.com/office/powerpoint/2010/main" val="400939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Test Results </a:t>
            </a:r>
            <a:r>
              <a:rPr lang="en-US" dirty="0">
                <a:latin typeface="Calibri"/>
              </a:rPr>
              <a:t>-</a:t>
            </a:r>
            <a:r>
              <a:rPr dirty="0">
                <a:latin typeface="Calibri"/>
              </a:rPr>
              <a:t> Per-Class Performance</a:t>
            </a:r>
          </a:p>
        </p:txBody>
      </p:sp>
      <p:pic>
        <p:nvPicPr>
          <p:cNvPr id="5" name="Picture 4" descr="per_class_i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512" y="1339180"/>
            <a:ext cx="5475404" cy="2488820"/>
          </a:xfrm>
          <a:prstGeom prst="rect">
            <a:avLst/>
          </a:prstGeom>
        </p:spPr>
      </p:pic>
      <p:pic>
        <p:nvPicPr>
          <p:cNvPr id="6" name="Picture 5" descr="per_class_boundary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512" y="3971583"/>
            <a:ext cx="5750208" cy="26137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Test Results </a:t>
            </a:r>
            <a:r>
              <a:rPr lang="en-US" dirty="0">
                <a:latin typeface="Calibri"/>
              </a:rPr>
              <a:t>-</a:t>
            </a:r>
            <a:r>
              <a:rPr dirty="0">
                <a:latin typeface="Calibri"/>
              </a:rPr>
              <a:t> Efficiency Trade-off</a:t>
            </a:r>
          </a:p>
        </p:txBody>
      </p:sp>
      <p:pic>
        <p:nvPicPr>
          <p:cNvPr id="5" name="Picture 4" descr="efficienc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91" y="2445917"/>
            <a:ext cx="7000000" cy="2500000"/>
          </a:xfrm>
          <a:prstGeom prst="rect">
            <a:avLst/>
          </a:prstGeom>
        </p:spPr>
      </p:pic>
      <p:pic>
        <p:nvPicPr>
          <p:cNvPr id="7" name="Picture 6" descr="params_and_gpu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667" y="2920917"/>
            <a:ext cx="2712500" cy="15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Qualitative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202" y="1420223"/>
            <a:ext cx="1111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679F"/>
                </a:solidFill>
                <a:latin typeface="Calibri"/>
              </a:rPr>
              <a:t>P</a:t>
            </a:r>
            <a:r>
              <a:rPr sz="1400" b="1" i="0" dirty="0">
                <a:solidFill>
                  <a:srgbClr val="00679F"/>
                </a:solidFill>
                <a:latin typeface="Calibri"/>
              </a:rPr>
              <a:t>rediction</a:t>
            </a:r>
            <a:r>
              <a:rPr lang="en-US" sz="1400" b="1" i="0" dirty="0">
                <a:solidFill>
                  <a:srgbClr val="00679F"/>
                </a:solidFill>
                <a:latin typeface="Calibri"/>
              </a:rPr>
              <a:t> Sample</a:t>
            </a:r>
            <a:endParaRPr sz="1400" b="1" i="0" dirty="0">
              <a:solidFill>
                <a:srgbClr val="00679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4202" y="4069583"/>
            <a:ext cx="1111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dirty="0">
                <a:solidFill>
                  <a:srgbClr val="ED7000"/>
                </a:solidFill>
                <a:latin typeface="Calibri"/>
              </a:rPr>
              <a:t>Failure case (avg </a:t>
            </a:r>
            <a:r>
              <a:rPr sz="1400" b="1" i="0" dirty="0" err="1">
                <a:solidFill>
                  <a:srgbClr val="ED7000"/>
                </a:solidFill>
                <a:latin typeface="Calibri"/>
              </a:rPr>
              <a:t>mIoU</a:t>
            </a:r>
            <a:r>
              <a:rPr sz="1400" b="1" i="0" dirty="0">
                <a:solidFill>
                  <a:srgbClr val="ED7000"/>
                </a:solidFill>
                <a:latin typeface="Calibri"/>
              </a:rPr>
              <a:t> 0.42</a:t>
            </a:r>
            <a:r>
              <a:rPr lang="en-US" sz="1400" b="1" i="0" dirty="0">
                <a:solidFill>
                  <a:srgbClr val="ED7000"/>
                </a:solidFill>
                <a:latin typeface="Calibri"/>
              </a:rPr>
              <a:t>7</a:t>
            </a:r>
            <a:r>
              <a:rPr sz="1400" b="1" i="0" dirty="0">
                <a:solidFill>
                  <a:srgbClr val="ED7000"/>
                </a:solidFill>
                <a:latin typeface="Calibri"/>
              </a:rPr>
              <a:t>) </a:t>
            </a:r>
            <a:r>
              <a:rPr lang="en-US" sz="1400" b="1" dirty="0">
                <a:solidFill>
                  <a:srgbClr val="ED7000"/>
                </a:solidFill>
                <a:latin typeface="Calibri"/>
              </a:rPr>
              <a:t>- </a:t>
            </a:r>
            <a:r>
              <a:rPr sz="1400" b="1" i="0" dirty="0">
                <a:solidFill>
                  <a:srgbClr val="ED7000"/>
                </a:solidFill>
                <a:latin typeface="Calibri"/>
              </a:rPr>
              <a:t>dark scene with thin structures (lamp posts, sign poles)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A142A6-22FC-33A3-8297-45719FFD4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381" y="1620918"/>
            <a:ext cx="8645237" cy="23461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683E22-52CC-089F-BE4B-0E774599D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878" y="4366226"/>
            <a:ext cx="8572408" cy="21431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48D3C-2965-DE65-8919-C828A04F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71BD6F6-915A-B920-9F0D-E735DE0B8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>
                <a:latin typeface="Calibri"/>
              </a:rPr>
              <a:t>Final Analysis &amp; Conclusion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924878"/>
              </p:ext>
            </p:extLst>
          </p:nvPr>
        </p:nvGraphicFramePr>
        <p:xfrm>
          <a:off x="540000" y="1728000"/>
          <a:ext cx="53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333">
                <a:tc>
                  <a:txBody>
                    <a:bodyPr/>
                    <a:lstStyle/>
                    <a:p>
                      <a:endParaRPr/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UNet-VGG16-BN</a:t>
                      </a:r>
                      <a:endParaRPr sz="12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UNet-ResNet34</a:t>
                      </a:r>
                      <a:endParaRPr sz="12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3545A"/>
                          </a:solidFill>
                        </a:rPr>
                        <a:t>mIoU</a:t>
                      </a:r>
                      <a:endParaRPr sz="12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0.7123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0.6729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3545A"/>
                          </a:solidFill>
                        </a:rPr>
                        <a:t>Boundary F1</a:t>
                      </a:r>
                      <a:endParaRPr sz="12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0.662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0.608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3545A"/>
                          </a:solidFill>
                        </a:rPr>
                        <a:t>FPS</a:t>
                      </a:r>
                      <a:endParaRPr sz="12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112.5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186.2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r>
                        <a:rPr sz="1250" b="1" dirty="0">
                          <a:solidFill>
                            <a:srgbClr val="53545A"/>
                          </a:solidFill>
                        </a:rPr>
                        <a:t>GFLOPs</a:t>
                      </a:r>
                      <a:endParaRPr sz="1250" b="1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76.42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17.75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33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3545A"/>
                          </a:solidFill>
                        </a:rPr>
                        <a:t>Best for</a:t>
                      </a:r>
                      <a:endParaRPr sz="1250" b="1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53545A"/>
                          </a:solidFill>
                        </a:rPr>
                        <a:t>Boundary precision</a:t>
                      </a:r>
                      <a:endParaRPr sz="1250" b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53545A"/>
                          </a:solidFill>
                        </a:rPr>
                        <a:t>Real-time / constrained hardware</a:t>
                      </a:r>
                      <a:endParaRPr sz="1250" b="0" dirty="0">
                        <a:solidFill>
                          <a:srgbClr val="53545A"/>
                        </a:solidFill>
                        <a:latin typeface="Calibri"/>
                      </a:endParaRPr>
                    </a:p>
                  </a:txBody>
                  <a:tcPr marL="80000" marR="80000" marT="30000" marB="30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60000" y="1728000"/>
            <a:ext cx="5440000" cy="214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sz="1300" b="0" i="0" dirty="0">
                <a:solidFill>
                  <a:srgbClr val="53545A"/>
                </a:solidFill>
                <a:latin typeface="Calibri"/>
              </a:rPr>
              <a:t>VGG16-BN’s full-resolution first skip (256×256) preserves fine spatial detail that ResNet34’s </a:t>
            </a:r>
            <a:r>
              <a:rPr sz="1300" b="0" i="0" dirty="0" err="1">
                <a:solidFill>
                  <a:srgbClr val="53545A"/>
                </a:solidFill>
                <a:latin typeface="Calibri"/>
              </a:rPr>
              <a:t>downsampled</a:t>
            </a:r>
            <a:r>
              <a:rPr sz="1300" b="0" i="0" dirty="0">
                <a:solidFill>
                  <a:srgbClr val="53545A"/>
                </a:solidFill>
                <a:latin typeface="Calibri"/>
              </a:rPr>
              <a:t> stem discards this is the main driver of its boundary-F1 and </a:t>
            </a:r>
            <a:r>
              <a:rPr sz="1300" b="0" i="0" dirty="0" err="1">
                <a:solidFill>
                  <a:srgbClr val="53545A"/>
                </a:solidFill>
                <a:latin typeface="Calibri"/>
              </a:rPr>
              <a:t>mIoU</a:t>
            </a:r>
            <a:r>
              <a:rPr sz="1300" b="0" i="0" dirty="0">
                <a:solidFill>
                  <a:srgbClr val="53545A"/>
                </a:solidFill>
                <a:latin typeface="Calibri"/>
              </a:rPr>
              <a:t> advantage.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sz="1300" b="0" i="0" dirty="0">
                <a:solidFill>
                  <a:srgbClr val="53545A"/>
                </a:solidFill>
                <a:latin typeface="Calibri"/>
              </a:rPr>
              <a:t>ResNet34 is not weak it is a genuine efficiency trade-off: both models clear the 60 FPS real-time threshold, but ResNet34 does so at ~4.3x lower compute cost.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ED7000"/>
              </a:buClr>
              <a:buFont typeface="Arial"/>
              <a:buChar char="•"/>
            </a:pPr>
            <a:r>
              <a:rPr sz="1300" b="0" i="0" dirty="0">
                <a:solidFill>
                  <a:srgbClr val="53545A"/>
                </a:solidFill>
                <a:latin typeface="Calibri"/>
              </a:rPr>
              <a:t>Neither architecture solves the thin, infrequent classes (</a:t>
            </a:r>
            <a:r>
              <a:rPr sz="1300" b="0" i="0" dirty="0" err="1">
                <a:solidFill>
                  <a:srgbClr val="53545A"/>
                </a:solidFill>
                <a:latin typeface="Calibri"/>
              </a:rPr>
              <a:t>ColumnPole</a:t>
            </a:r>
            <a:r>
              <a:rPr sz="1300" b="0" i="0" dirty="0">
                <a:solidFill>
                  <a:srgbClr val="53545A"/>
                </a:solidFill>
                <a:latin typeface="Calibri"/>
              </a:rPr>
              <a:t>, Pedestrian) that gap is a class-imbalance problem in </a:t>
            </a:r>
            <a:r>
              <a:rPr sz="1300" b="0" i="0" dirty="0" err="1">
                <a:solidFill>
                  <a:srgbClr val="53545A"/>
                </a:solidFill>
                <a:latin typeface="Calibri"/>
              </a:rPr>
              <a:t>CamVid</a:t>
            </a:r>
            <a:r>
              <a:rPr sz="1300" b="0" i="0" dirty="0">
                <a:solidFill>
                  <a:srgbClr val="53545A"/>
                </a:solidFill>
                <a:latin typeface="Calibri"/>
              </a:rPr>
              <a:t>, not an encoder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028000"/>
            <a:ext cx="1111200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50" b="1" dirty="0">
                <a:solidFill>
                  <a:srgbClr val="ED7000"/>
                </a:solidFill>
                <a:latin typeface="Calibri"/>
              </a:rPr>
              <a:t>If boundary precision matters → UNet-VGG16-BN. If the deployment target needs speed on constrained hardware → UNet-ResNet34.</a:t>
            </a:r>
          </a:p>
        </p:txBody>
      </p:sp>
    </p:spTree>
    <p:extLst>
      <p:ext uri="{BB962C8B-B14F-4D97-AF65-F5344CB8AC3E}">
        <p14:creationId xmlns:p14="http://schemas.microsoft.com/office/powerpoint/2010/main" val="68649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728000"/>
            <a:ext cx="5400000" cy="333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i="0" dirty="0">
                <a:solidFill>
                  <a:srgbClr val="ED7000"/>
                </a:solidFill>
                <a:latin typeface="Calibri"/>
              </a:rPr>
              <a:t>Limitations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ED7000"/>
              </a:buClr>
              <a:buFont typeface="Arial"/>
              <a:buChar char="•"/>
            </a:pPr>
            <a:r>
              <a:rPr sz="2000" b="0" i="0" dirty="0">
                <a:solidFill>
                  <a:srgbClr val="53545A"/>
                </a:solidFill>
                <a:latin typeface="Calibri"/>
              </a:rPr>
              <a:t>Trained/evaluated only on </a:t>
            </a:r>
            <a:r>
              <a:rPr sz="2000" b="0" i="0" dirty="0" err="1">
                <a:solidFill>
                  <a:srgbClr val="53545A"/>
                </a:solidFill>
                <a:latin typeface="Calibri"/>
              </a:rPr>
              <a:t>CamVid</a:t>
            </a:r>
            <a:r>
              <a:rPr lang="en-US" sz="2000" dirty="0">
                <a:solidFill>
                  <a:srgbClr val="53545A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53545A"/>
                </a:solidFill>
                <a:latin typeface="Calibri"/>
              </a:rPr>
              <a:t>results may not generalize to other datasets.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ED7000"/>
              </a:buClr>
              <a:buFont typeface="Arial"/>
              <a:buChar char="•"/>
            </a:pPr>
            <a:r>
              <a:rPr sz="2000" b="0" i="0" dirty="0">
                <a:solidFill>
                  <a:srgbClr val="53545A"/>
                </a:solidFill>
                <a:latin typeface="Calibri"/>
              </a:rPr>
              <a:t>Fixed 256×256 input resolution suppresses fine boundary detail.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ED7000"/>
              </a:buClr>
              <a:buFont typeface="Arial"/>
              <a:buChar char="•"/>
            </a:pPr>
            <a:r>
              <a:rPr sz="2000" b="0" i="0" dirty="0">
                <a:solidFill>
                  <a:srgbClr val="53545A"/>
                </a:solidFill>
                <a:latin typeface="Calibri"/>
              </a:rPr>
              <a:t>Class imbalance is only partially addressed by the combined loss</a:t>
            </a:r>
            <a:r>
              <a:rPr lang="en-US" sz="2000" b="0" i="0" dirty="0">
                <a:solidFill>
                  <a:srgbClr val="53545A"/>
                </a:solidFill>
                <a:latin typeface="Calibri"/>
              </a:rPr>
              <a:t>, </a:t>
            </a:r>
            <a:r>
              <a:rPr sz="2000" b="0" i="0" dirty="0">
                <a:solidFill>
                  <a:srgbClr val="53545A"/>
                </a:solidFill>
                <a:latin typeface="Calibri"/>
              </a:rPr>
              <a:t>rare classes</a:t>
            </a:r>
            <a:r>
              <a:rPr lang="en-US" sz="2000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53545A"/>
                </a:solidFill>
                <a:latin typeface="Calibri"/>
              </a:rPr>
              <a:t>remain hard.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ED7000"/>
              </a:buClr>
              <a:buFont typeface="Arial"/>
              <a:buChar char="•"/>
            </a:pPr>
            <a:r>
              <a:rPr sz="2000" b="0" i="0" dirty="0" err="1">
                <a:solidFill>
                  <a:srgbClr val="53545A"/>
                </a:solidFill>
                <a:latin typeface="Calibri"/>
              </a:rPr>
              <a:t>Optuna</a:t>
            </a:r>
            <a:r>
              <a:rPr sz="2000" b="0" i="0" dirty="0">
                <a:solidFill>
                  <a:srgbClr val="53545A"/>
                </a:solidFill>
                <a:latin typeface="Calibri"/>
              </a:rPr>
              <a:t> search limited to 20 trials per encoder</a:t>
            </a:r>
            <a:r>
              <a:rPr lang="en-US" sz="2000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53545A"/>
                </a:solidFill>
                <a:latin typeface="Calibri"/>
              </a:rPr>
              <a:t>configurations may not be</a:t>
            </a:r>
            <a:r>
              <a:rPr lang="en-US" sz="2000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53545A"/>
                </a:solidFill>
                <a:latin typeface="Calibri"/>
              </a:rPr>
              <a:t>globally optimal.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0000" y="1728000"/>
            <a:ext cx="5400000" cy="2182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2000" b="1" i="0" dirty="0">
                <a:solidFill>
                  <a:srgbClr val="ED7000"/>
                </a:solidFill>
                <a:latin typeface="Calibri"/>
              </a:rPr>
              <a:t>Future Work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ED7000"/>
              </a:buClr>
              <a:buFont typeface="Arial"/>
              <a:buChar char="•"/>
            </a:pPr>
            <a:r>
              <a:rPr sz="2000" b="0" i="0" dirty="0">
                <a:solidFill>
                  <a:srgbClr val="53545A"/>
                </a:solidFill>
                <a:latin typeface="Calibri"/>
              </a:rPr>
              <a:t>Study the same two encoders inside a </a:t>
            </a:r>
            <a:r>
              <a:rPr sz="2000" b="0" i="0" dirty="0" err="1">
                <a:solidFill>
                  <a:srgbClr val="53545A"/>
                </a:solidFill>
                <a:latin typeface="Calibri"/>
              </a:rPr>
              <a:t>SegNet</a:t>
            </a:r>
            <a:r>
              <a:rPr sz="2000" b="0" i="0" dirty="0">
                <a:solidFill>
                  <a:srgbClr val="53545A"/>
                </a:solidFill>
                <a:latin typeface="Calibri"/>
              </a:rPr>
              <a:t> architecture to see whether its</a:t>
            </a:r>
            <a:r>
              <a:rPr lang="en-US" sz="2000" b="0" i="0" dirty="0">
                <a:solidFill>
                  <a:srgbClr val="53545A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53545A"/>
                </a:solidFill>
                <a:latin typeface="Calibri"/>
              </a:rPr>
              <a:t>asymmetric decoder handles boundaries differently.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ED7000"/>
              </a:buClr>
              <a:buFont typeface="Arial"/>
              <a:buChar char="•"/>
            </a:pPr>
            <a:r>
              <a:rPr sz="2000" b="0" i="0" dirty="0">
                <a:solidFill>
                  <a:srgbClr val="53545A"/>
                </a:solidFill>
                <a:latin typeface="Calibri"/>
              </a:rPr>
              <a:t>Evaluate on a larger dataset at higher input resolution.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TH">
  <a:themeElements>
    <a:clrScheme name="Benutzerdefiniert 14">
      <a:dk1>
        <a:srgbClr val="53545A"/>
      </a:dk1>
      <a:lt1>
        <a:srgbClr val="FFFFFF"/>
      </a:lt1>
      <a:dk2>
        <a:srgbClr val="535559"/>
      </a:dk2>
      <a:lt2>
        <a:srgbClr val="FFFFFF"/>
      </a:lt2>
      <a:accent1>
        <a:srgbClr val="ED7000"/>
      </a:accent1>
      <a:accent2>
        <a:srgbClr val="525558"/>
      </a:accent2>
      <a:accent3>
        <a:srgbClr val="1EB0CB"/>
      </a:accent3>
      <a:accent4>
        <a:srgbClr val="6B347F"/>
      </a:accent4>
      <a:accent5>
        <a:srgbClr val="00679F"/>
      </a:accent5>
      <a:accent6>
        <a:srgbClr val="45B179"/>
      </a:accent6>
      <a:hlink>
        <a:srgbClr val="525558"/>
      </a:hlink>
      <a:folHlink>
        <a:srgbClr val="FA7C18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rnd" cmpd="sng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lnSpc>
            <a:spcPct val="90000"/>
          </a:lnSpc>
          <a:spcAft>
            <a:spcPts val="1000"/>
          </a:spcAft>
          <a:buClr>
            <a:schemeClr val="accent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6471</TotalTime>
  <Words>975</Words>
  <Application>Microsoft Office PowerPoint</Application>
  <PresentationFormat>Widescreen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Meta OT</vt:lpstr>
      <vt:lpstr>Calibri</vt:lpstr>
      <vt:lpstr>OTH</vt:lpstr>
      <vt:lpstr>PowerPoint Presentation</vt:lpstr>
      <vt:lpstr>Problem Statement</vt:lpstr>
      <vt:lpstr>Dataset Details</vt:lpstr>
      <vt:lpstr>Dataset Exploration</vt:lpstr>
      <vt:lpstr>Model Architecture </vt:lpstr>
      <vt:lpstr>Model Architecture</vt:lpstr>
      <vt:lpstr>Hyper parameter tunning by Optuna</vt:lpstr>
      <vt:lpstr>Training </vt:lpstr>
      <vt:lpstr>Training Diagnostics</vt:lpstr>
      <vt:lpstr>Test Results - Quantitative Metrics</vt:lpstr>
      <vt:lpstr>Test Results - Per-Class Performance</vt:lpstr>
      <vt:lpstr>Test Results - Efficiency Trade-off</vt:lpstr>
      <vt:lpstr>Qualitative Results</vt:lpstr>
      <vt:lpstr>Final Analysis &amp; Conclusion</vt:lpstr>
      <vt:lpstr>Limitations &amp; Future Work</vt:lpstr>
    </vt:vector>
  </TitlesOfParts>
  <Company>Ostbayerische Technische Hochschule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 Master</dc:title>
  <dc:creator>PresentationLoad</dc:creator>
  <dc:description/>
  <cp:lastModifiedBy>Gauri Wagholikar</cp:lastModifiedBy>
  <cp:revision>1950</cp:revision>
  <dcterms:created xsi:type="dcterms:W3CDTF">2015-11-26T10:37:47Z</dcterms:created>
  <dcterms:modified xsi:type="dcterms:W3CDTF">2026-07-06T07:13:22Z</dcterms:modified>
</cp:coreProperties>
</file>